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1428750"/>
            <a:ext cx="266700" cy="266700"/>
            <a:chOff x="0" y="0"/>
            <a:chExt cx="355600" cy="355600"/>
          </a:xfrm>
        </p:grpSpPr>
        <p:sp>
          <p:nvSpPr>
            <p:cNvPr name="Freeform 3" id="3" descr="ellipse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0" y="8191500"/>
            <a:ext cx="381000" cy="381000"/>
            <a:chOff x="0" y="0"/>
            <a:chExt cx="508000" cy="508000"/>
          </a:xfrm>
        </p:grpSpPr>
        <p:sp>
          <p:nvSpPr>
            <p:cNvPr name="Freeform 5" id="5" descr="ellipse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0" y="1714500"/>
            <a:ext cx="171450" cy="171450"/>
            <a:chOff x="0" y="0"/>
            <a:chExt cx="228600" cy="228600"/>
          </a:xfrm>
        </p:grpSpPr>
        <p:sp>
          <p:nvSpPr>
            <p:cNvPr name="Freeform 7" id="7" descr="ellipse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9200" y="3608041"/>
            <a:ext cx="9944100" cy="575291"/>
            <a:chOff x="0" y="0"/>
            <a:chExt cx="13258800" cy="7670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58800" cy="767080"/>
            </a:xfrm>
            <a:custGeom>
              <a:avLst/>
              <a:gdLst/>
              <a:ahLst/>
              <a:cxnLst/>
              <a:rect r="r" b="b" t="t" l="l"/>
              <a:pathLst>
                <a:path h="767080" w="13258800">
                  <a:moveTo>
                    <a:pt x="0" y="383540"/>
                  </a:moveTo>
                  <a:cubicBezTo>
                    <a:pt x="0" y="171704"/>
                    <a:pt x="171704" y="0"/>
                    <a:pt x="383540" y="0"/>
                  </a:cubicBezTo>
                  <a:lnTo>
                    <a:pt x="12875260" y="0"/>
                  </a:lnTo>
                  <a:cubicBezTo>
                    <a:pt x="13087096" y="0"/>
                    <a:pt x="13258800" y="171704"/>
                    <a:pt x="13258800" y="383540"/>
                  </a:cubicBezTo>
                  <a:cubicBezTo>
                    <a:pt x="13258800" y="595376"/>
                    <a:pt x="13087096" y="767080"/>
                    <a:pt x="12875260" y="767080"/>
                  </a:cubicBezTo>
                  <a:lnTo>
                    <a:pt x="383540" y="767080"/>
                  </a:lnTo>
                  <a:cubicBezTo>
                    <a:pt x="171704" y="767080"/>
                    <a:pt x="0" y="595376"/>
                    <a:pt x="0" y="383540"/>
                  </a:cubicBezTo>
                  <a:close/>
                </a:path>
              </a:pathLst>
            </a:custGeom>
            <a:solidFill>
              <a:srgbClr val="2B1F6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258800" cy="82420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729"/>
                </a:lnSpc>
              </a:pPr>
              <a:r>
                <a:rPr lang="en-US" b="true" sz="1950" spc="74">
                  <a:solidFill>
                    <a:srgbClr val="4BE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Nipodihos · Ducktoberfest Baku 2026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19200" y="4754832"/>
            <a:ext cx="10242423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0"/>
              </a:lnSpc>
            </a:pPr>
            <a:r>
              <a:rPr lang="en-US" b="true" sz="14250" spc="-449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Found</a:t>
            </a:r>
            <a:r>
              <a:rPr lang="en-US" b="true" sz="14250" spc="-449">
                <a:solidFill>
                  <a:srgbClr val="FF6B4A"/>
                </a:solidFill>
                <a:latin typeface="Arial Bold"/>
                <a:ea typeface="Arial Bold"/>
                <a:cs typeface="Arial Bold"/>
                <a:sym typeface="Arial Bold"/>
              </a:rPr>
              <a:t>It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925300" y="257175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92050" y="3238500"/>
            <a:ext cx="3810000" cy="3810000"/>
            <a:chOff x="0" y="0"/>
            <a:chExt cx="5080000" cy="5080000"/>
          </a:xfrm>
        </p:grpSpPr>
        <p:sp>
          <p:nvSpPr>
            <p:cNvPr name="Freeform 14" id="14" descr="FoundIt loqosu: böyüdücü şüşə və yaşıl işarəli narıncı baqaj etiketi"/>
            <p:cNvSpPr/>
            <p:nvPr/>
          </p:nvSpPr>
          <p:spPr>
            <a:xfrm flipH="false" flipV="false" rot="0">
              <a:off x="0" y="0"/>
              <a:ext cx="508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5080000"/>
                  </a:lnTo>
                  <a:lnTo>
                    <a:pt x="0" y="508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00" y="1524000"/>
            <a:ext cx="266700" cy="266700"/>
            <a:chOff x="0" y="0"/>
            <a:chExt cx="355600" cy="355600"/>
          </a:xfrm>
        </p:grpSpPr>
        <p:sp>
          <p:nvSpPr>
            <p:cNvPr name="Freeform 3" id="3" descr="ellipse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39500" y="1143000"/>
            <a:ext cx="171450" cy="171450"/>
            <a:chOff x="0" y="0"/>
            <a:chExt cx="228600" cy="228600"/>
          </a:xfrm>
        </p:grpSpPr>
        <p:sp>
          <p:nvSpPr>
            <p:cNvPr name="Freeform 5" id="5" descr="ellipse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4600575"/>
            <a:ext cx="5029200" cy="1581074"/>
            <a:chOff x="0" y="0"/>
            <a:chExt cx="6705600" cy="2108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05600" cy="2108073"/>
            </a:xfrm>
            <a:custGeom>
              <a:avLst/>
              <a:gdLst/>
              <a:ahLst/>
              <a:cxnLst/>
              <a:rect r="r" b="b" t="t" l="l"/>
              <a:pathLst>
                <a:path h="2108073" w="6705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00800" y="0"/>
                  </a:lnTo>
                  <a:cubicBezTo>
                    <a:pt x="6569202" y="0"/>
                    <a:pt x="6705600" y="136525"/>
                    <a:pt x="6705600" y="304800"/>
                  </a:cubicBezTo>
                  <a:lnTo>
                    <a:pt x="6705600" y="1803273"/>
                  </a:lnTo>
                  <a:cubicBezTo>
                    <a:pt x="6705600" y="1971675"/>
                    <a:pt x="6569075" y="2108073"/>
                    <a:pt x="6400800" y="2108073"/>
                  </a:cubicBezTo>
                  <a:lnTo>
                    <a:pt x="304800" y="2108073"/>
                  </a:lnTo>
                  <a:cubicBezTo>
                    <a:pt x="136398" y="2108073"/>
                    <a:pt x="0" y="1971548"/>
                    <a:pt x="0" y="1803273"/>
                  </a:cubicBezTo>
                  <a:close/>
                </a:path>
              </a:pathLst>
            </a:custGeom>
            <a:solidFill>
              <a:srgbClr val="2B1F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9200" y="4600575"/>
            <a:ext cx="5029200" cy="1581074"/>
            <a:chOff x="0" y="0"/>
            <a:chExt cx="6705600" cy="2108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5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705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00800" y="0"/>
                  </a:lnTo>
                  <a:cubicBezTo>
                    <a:pt x="6569075" y="0"/>
                    <a:pt x="6705600" y="136525"/>
                    <a:pt x="6705600" y="304800"/>
                  </a:cubicBezTo>
                  <a:cubicBezTo>
                    <a:pt x="6705600" y="192532"/>
                    <a:pt x="6614668" y="101600"/>
                    <a:pt x="6502400" y="101600"/>
                  </a:cubicBezTo>
                  <a:lnTo>
                    <a:pt x="304800" y="101600"/>
                  </a:lnTo>
                  <a:cubicBezTo>
                    <a:pt x="192532" y="101600"/>
                    <a:pt x="101600" y="192532"/>
                    <a:pt x="101600" y="304800"/>
                  </a:cubicBezTo>
                  <a:close/>
                </a:path>
              </a:pathLst>
            </a:custGeom>
            <a:solidFill>
              <a:srgbClr val="FF6B4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24000" y="4924425"/>
            <a:ext cx="45521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FF8A70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4000" y="5330133"/>
            <a:ext cx="4552188" cy="58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Nilay Abdayeva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29400" y="4600575"/>
            <a:ext cx="5029200" cy="1581074"/>
            <a:chOff x="0" y="0"/>
            <a:chExt cx="6705600" cy="2108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05600" cy="2108073"/>
            </a:xfrm>
            <a:custGeom>
              <a:avLst/>
              <a:gdLst/>
              <a:ahLst/>
              <a:cxnLst/>
              <a:rect r="r" b="b" t="t" l="l"/>
              <a:pathLst>
                <a:path h="2108073" w="6705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00800" y="0"/>
                  </a:lnTo>
                  <a:cubicBezTo>
                    <a:pt x="6569202" y="0"/>
                    <a:pt x="6705600" y="136525"/>
                    <a:pt x="6705600" y="304800"/>
                  </a:cubicBezTo>
                  <a:lnTo>
                    <a:pt x="6705600" y="1803273"/>
                  </a:lnTo>
                  <a:cubicBezTo>
                    <a:pt x="6705600" y="1971675"/>
                    <a:pt x="6569075" y="2108073"/>
                    <a:pt x="6400800" y="2108073"/>
                  </a:cubicBezTo>
                  <a:lnTo>
                    <a:pt x="304800" y="2108073"/>
                  </a:lnTo>
                  <a:cubicBezTo>
                    <a:pt x="136398" y="2108073"/>
                    <a:pt x="0" y="1971548"/>
                    <a:pt x="0" y="1803273"/>
                  </a:cubicBezTo>
                  <a:close/>
                </a:path>
              </a:pathLst>
            </a:custGeom>
            <a:solidFill>
              <a:srgbClr val="2B1F6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29400" y="4600575"/>
            <a:ext cx="5029200" cy="1581074"/>
            <a:chOff x="0" y="0"/>
            <a:chExt cx="6705600" cy="21080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05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705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00800" y="0"/>
                  </a:lnTo>
                  <a:cubicBezTo>
                    <a:pt x="6569075" y="0"/>
                    <a:pt x="6705600" y="136525"/>
                    <a:pt x="6705600" y="304800"/>
                  </a:cubicBezTo>
                  <a:cubicBezTo>
                    <a:pt x="6705600" y="192532"/>
                    <a:pt x="6614668" y="101600"/>
                    <a:pt x="6502400" y="101600"/>
                  </a:cubicBezTo>
                  <a:lnTo>
                    <a:pt x="304800" y="101600"/>
                  </a:lnTo>
                  <a:cubicBezTo>
                    <a:pt x="192532" y="101600"/>
                    <a:pt x="101600" y="192532"/>
                    <a:pt x="101600" y="304800"/>
                  </a:cubicBezTo>
                  <a:close/>
                </a:path>
              </a:pathLst>
            </a:custGeom>
            <a:solidFill>
              <a:srgbClr val="4BE0C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934200" y="4924425"/>
            <a:ext cx="45521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4BE0C0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34200" y="5330133"/>
            <a:ext cx="4552188" cy="58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Dinara Rüstəmzadə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39600" y="4600575"/>
            <a:ext cx="5029200" cy="1581074"/>
            <a:chOff x="0" y="0"/>
            <a:chExt cx="6705600" cy="21080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05600" cy="2108073"/>
            </a:xfrm>
            <a:custGeom>
              <a:avLst/>
              <a:gdLst/>
              <a:ahLst/>
              <a:cxnLst/>
              <a:rect r="r" b="b" t="t" l="l"/>
              <a:pathLst>
                <a:path h="2108073" w="6705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00800" y="0"/>
                  </a:lnTo>
                  <a:cubicBezTo>
                    <a:pt x="6569202" y="0"/>
                    <a:pt x="6705600" y="136525"/>
                    <a:pt x="6705600" y="304800"/>
                  </a:cubicBezTo>
                  <a:lnTo>
                    <a:pt x="6705600" y="1803273"/>
                  </a:lnTo>
                  <a:cubicBezTo>
                    <a:pt x="6705600" y="1971675"/>
                    <a:pt x="6569075" y="2108073"/>
                    <a:pt x="6400800" y="2108073"/>
                  </a:cubicBezTo>
                  <a:lnTo>
                    <a:pt x="304800" y="2108073"/>
                  </a:lnTo>
                  <a:cubicBezTo>
                    <a:pt x="136398" y="2108073"/>
                    <a:pt x="0" y="1971548"/>
                    <a:pt x="0" y="1803273"/>
                  </a:cubicBezTo>
                  <a:close/>
                </a:path>
              </a:pathLst>
            </a:custGeom>
            <a:solidFill>
              <a:srgbClr val="2B1F6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39600" y="4600575"/>
            <a:ext cx="5029200" cy="1581074"/>
            <a:chOff x="0" y="0"/>
            <a:chExt cx="6705600" cy="21080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05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705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00800" y="0"/>
                  </a:lnTo>
                  <a:cubicBezTo>
                    <a:pt x="6569075" y="0"/>
                    <a:pt x="6705600" y="136525"/>
                    <a:pt x="6705600" y="304800"/>
                  </a:cubicBezTo>
                  <a:cubicBezTo>
                    <a:pt x="6705600" y="192532"/>
                    <a:pt x="6614668" y="101600"/>
                    <a:pt x="6502400" y="101600"/>
                  </a:cubicBezTo>
                  <a:lnTo>
                    <a:pt x="304800" y="101600"/>
                  </a:lnTo>
                  <a:cubicBezTo>
                    <a:pt x="192532" y="101600"/>
                    <a:pt x="101600" y="192532"/>
                    <a:pt x="101600" y="304800"/>
                  </a:cubicBezTo>
                  <a:close/>
                </a:path>
              </a:pathLst>
            </a:custGeom>
            <a:solidFill>
              <a:srgbClr val="FFC94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344400" y="4924425"/>
            <a:ext cx="45521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FFC94A"/>
                </a:solidFill>
                <a:latin typeface="Arial Bold"/>
                <a:ea typeface="Arial Bold"/>
                <a:cs typeface="Arial Bold"/>
                <a:sym typeface="Arial Bold"/>
              </a:rPr>
              <a:t>AI AGENT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44400" y="5330133"/>
            <a:ext cx="4552188" cy="58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Polad İbrahimli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github.com/Ducktoberfest/team-nipodihos · Team Nipodihos · Ducktoberfest Baku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38250"/>
            <a:ext cx="16325088" cy="77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Eyni çanta — </a:t>
            </a:r>
            <a:r>
              <a:rPr lang="en-US" sz="5400" b="true">
                <a:solidFill>
                  <a:srgbClr val="C2391C"/>
                </a:solidFill>
                <a:latin typeface="Arial Bold"/>
                <a:ea typeface="Arial Bold"/>
                <a:cs typeface="Arial Bold"/>
                <a:sym typeface="Arial Bold"/>
              </a:rPr>
              <a:t>fərqli sözlər</a:t>
            </a:r>
          </a:p>
        </p:txBody>
      </p:sp>
      <p:grpSp>
        <p:nvGrpSpPr>
          <p:cNvPr name="Group 3" id="3"/>
          <p:cNvGrpSpPr/>
          <p:nvPr/>
        </p:nvGrpSpPr>
        <p:grpSpPr>
          <a:xfrm rot="-120000">
            <a:off x="1219200" y="2713549"/>
            <a:ext cx="5905500" cy="2771775"/>
            <a:chOff x="0" y="0"/>
            <a:chExt cx="7874000" cy="3695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74000" cy="3695700"/>
            </a:xfrm>
            <a:custGeom>
              <a:avLst/>
              <a:gdLst/>
              <a:ahLst/>
              <a:cxnLst/>
              <a:rect r="r" b="b" t="t" l="l"/>
              <a:pathLst>
                <a:path h="3695700" w="7874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7569200" y="0"/>
                  </a:lnTo>
                  <a:cubicBezTo>
                    <a:pt x="7737475" y="0"/>
                    <a:pt x="7874000" y="136398"/>
                    <a:pt x="7874000" y="304800"/>
                  </a:cubicBezTo>
                  <a:lnTo>
                    <a:pt x="7874000" y="3390900"/>
                  </a:lnTo>
                  <a:cubicBezTo>
                    <a:pt x="7874000" y="3559175"/>
                    <a:pt x="7737602" y="3695700"/>
                    <a:pt x="7569200" y="3695700"/>
                  </a:cubicBezTo>
                  <a:lnTo>
                    <a:pt x="304800" y="3695700"/>
                  </a:lnTo>
                  <a:cubicBezTo>
                    <a:pt x="136525" y="3695700"/>
                    <a:pt x="0" y="3559302"/>
                    <a:pt x="0" y="33909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-120000">
            <a:off x="1219200" y="2713549"/>
            <a:ext cx="5905500" cy="2771775"/>
            <a:chOff x="0" y="0"/>
            <a:chExt cx="7874000" cy="3695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7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78740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7569200" y="0"/>
                  </a:lnTo>
                  <a:cubicBezTo>
                    <a:pt x="7737475" y="0"/>
                    <a:pt x="7874000" y="136525"/>
                    <a:pt x="7874000" y="304800"/>
                  </a:cubicBezTo>
                  <a:cubicBezTo>
                    <a:pt x="7874000" y="220599"/>
                    <a:pt x="7805801" y="152400"/>
                    <a:pt x="7721600" y="152400"/>
                  </a:cubicBezTo>
                  <a:lnTo>
                    <a:pt x="304800" y="152400"/>
                  </a:lnTo>
                  <a:cubicBezTo>
                    <a:pt x="220599" y="152400"/>
                    <a:pt x="152400" y="220599"/>
                    <a:pt x="152400" y="304800"/>
                  </a:cubicBezTo>
                  <a:close/>
                </a:path>
              </a:pathLst>
            </a:custGeom>
            <a:solidFill>
              <a:srgbClr val="FF6B4A"/>
            </a:solidFill>
          </p:spPr>
        </p:sp>
      </p:grpSp>
      <p:sp>
        <p:nvSpPr>
          <p:cNvPr name="TextBox 7" id="7"/>
          <p:cNvSpPr txBox="true"/>
          <p:nvPr/>
        </p:nvSpPr>
        <p:spPr>
          <a:xfrm rot="-120000">
            <a:off x="1574762" y="3150487"/>
            <a:ext cx="529780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C2391C"/>
                </a:solidFill>
                <a:latin typeface="Arial Bold"/>
                <a:ea typeface="Arial Bold"/>
                <a:cs typeface="Arial Bold"/>
                <a:sym typeface="Arial Bold"/>
              </a:rPr>
              <a:t>İTİRİLİB</a:t>
            </a:r>
          </a:p>
        </p:txBody>
      </p:sp>
      <p:sp>
        <p:nvSpPr>
          <p:cNvPr name="TextBox 8" id="8"/>
          <p:cNvSpPr txBox="true"/>
          <p:nvPr/>
        </p:nvSpPr>
        <p:spPr>
          <a:xfrm rot="-120000">
            <a:off x="1611185" y="3684106"/>
            <a:ext cx="5297805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«Kitabxananın yanında </a:t>
            </a:r>
            <a:r>
              <a:rPr lang="en-US" sz="2550" b="true">
                <a:solidFill>
                  <a:srgbClr val="C2391C"/>
                </a:solidFill>
                <a:latin typeface="Arial Bold"/>
                <a:ea typeface="Arial Bold"/>
                <a:cs typeface="Arial Bold"/>
                <a:sym typeface="Arial Bold"/>
              </a:rPr>
              <a:t>tünd göy bel çantamı</a:t>
            </a:r>
            <a:r>
              <a:rPr lang="en-US" sz="25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 itirdim. İçində noutbuk və kiçik </a:t>
            </a:r>
            <a:r>
              <a:rPr lang="en-US" sz="2550" b="true">
                <a:solidFill>
                  <a:srgbClr val="C2391C"/>
                </a:solidFill>
                <a:latin typeface="Arial Bold"/>
                <a:ea typeface="Arial Bold"/>
                <a:cs typeface="Arial Bold"/>
                <a:sym typeface="Arial Bold"/>
              </a:rPr>
              <a:t>açarlıq</a:t>
            </a:r>
            <a:r>
              <a:rPr lang="en-US" sz="25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 var idi.»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00835" y="2506932"/>
            <a:ext cx="2486244" cy="960091"/>
            <a:chOff x="0" y="0"/>
            <a:chExt cx="3314992" cy="12801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14954" cy="1280160"/>
            </a:xfrm>
            <a:custGeom>
              <a:avLst/>
              <a:gdLst/>
              <a:ahLst/>
              <a:cxnLst/>
              <a:rect r="r" b="b" t="t" l="l"/>
              <a:pathLst>
                <a:path h="1280160" w="3314954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3111754" y="0"/>
                  </a:lnTo>
                  <a:cubicBezTo>
                    <a:pt x="3224022" y="0"/>
                    <a:pt x="3314954" y="90932"/>
                    <a:pt x="3314954" y="203200"/>
                  </a:cubicBezTo>
                  <a:lnTo>
                    <a:pt x="3314954" y="1076960"/>
                  </a:lnTo>
                  <a:cubicBezTo>
                    <a:pt x="3314954" y="1189228"/>
                    <a:pt x="3224022" y="1280160"/>
                    <a:pt x="3111754" y="1280160"/>
                  </a:cubicBezTo>
                  <a:lnTo>
                    <a:pt x="203200" y="1280160"/>
                  </a:lnTo>
                  <a:cubicBezTo>
                    <a:pt x="90932" y="1280160"/>
                    <a:pt x="0" y="1189228"/>
                    <a:pt x="0" y="1076960"/>
                  </a:cubicBezTo>
                  <a:close/>
                </a:path>
              </a:pathLst>
            </a:custGeom>
            <a:solidFill>
              <a:srgbClr val="EFE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314992" cy="13086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sz="2100">
                  <a:solidFill>
                    <a:srgbClr val="1E1446"/>
                  </a:solidFill>
                  <a:latin typeface="Arial"/>
                  <a:ea typeface="Arial"/>
                  <a:cs typeface="Arial"/>
                  <a:sym typeface="Arial"/>
                </a:rPr>
                <a:t>bel çantası</a:t>
              </a:r>
            </a:p>
            <a:p>
              <a:pPr algn="ctr">
                <a:lnSpc>
                  <a:spcPts val="2730"/>
                </a:lnSpc>
              </a:pPr>
              <a:r>
                <a:rPr lang="en-US" sz="2100">
                  <a:solidFill>
                    <a:srgbClr val="1E1446"/>
                  </a:solidFill>
                  <a:latin typeface="Arial"/>
                  <a:ea typeface="Arial"/>
                  <a:cs typeface="Arial"/>
                  <a:sym typeface="Arial"/>
                </a:rPr>
                <a:t>≈ məktəb çantası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45614" y="3619424"/>
            <a:ext cx="1596704" cy="960090"/>
            <a:chOff x="0" y="0"/>
            <a:chExt cx="2128939" cy="1280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8901" cy="1280158"/>
            </a:xfrm>
            <a:custGeom>
              <a:avLst/>
              <a:gdLst/>
              <a:ahLst/>
              <a:cxnLst/>
              <a:rect r="r" b="b" t="t" l="l"/>
              <a:pathLst>
                <a:path h="1280158" w="2128901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925701" y="0"/>
                  </a:lnTo>
                  <a:cubicBezTo>
                    <a:pt x="2037969" y="0"/>
                    <a:pt x="2128901" y="90932"/>
                    <a:pt x="2128901" y="203200"/>
                  </a:cubicBezTo>
                  <a:lnTo>
                    <a:pt x="2128901" y="1076958"/>
                  </a:lnTo>
                  <a:cubicBezTo>
                    <a:pt x="2128901" y="1189226"/>
                    <a:pt x="2037969" y="1280158"/>
                    <a:pt x="1925701" y="1280158"/>
                  </a:cubicBezTo>
                  <a:lnTo>
                    <a:pt x="203200" y="1280158"/>
                  </a:lnTo>
                  <a:cubicBezTo>
                    <a:pt x="90932" y="1280158"/>
                    <a:pt x="0" y="1189226"/>
                    <a:pt x="0" y="1076958"/>
                  </a:cubicBezTo>
                  <a:close/>
                </a:path>
              </a:pathLst>
            </a:custGeom>
            <a:solidFill>
              <a:srgbClr val="EFE8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28939" cy="130869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sz="2100">
                  <a:solidFill>
                    <a:srgbClr val="1E1446"/>
                  </a:solidFill>
                  <a:latin typeface="Arial"/>
                  <a:ea typeface="Arial"/>
                  <a:cs typeface="Arial"/>
                  <a:sym typeface="Arial"/>
                </a:rPr>
                <a:t>tünd göy</a:t>
              </a:r>
            </a:p>
            <a:p>
              <a:pPr algn="ctr">
                <a:lnSpc>
                  <a:spcPts val="2730"/>
                </a:lnSpc>
              </a:pPr>
              <a:r>
                <a:rPr lang="en-US" sz="2100">
                  <a:solidFill>
                    <a:srgbClr val="1E1446"/>
                  </a:solidFill>
                  <a:latin typeface="Arial"/>
                  <a:ea typeface="Arial"/>
                  <a:cs typeface="Arial"/>
                  <a:sym typeface="Arial"/>
                </a:rPr>
                <a:t>≈ tünd mavi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078686" y="4731915"/>
            <a:ext cx="2130628" cy="960091"/>
            <a:chOff x="0" y="0"/>
            <a:chExt cx="2840838" cy="12801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40863" cy="1280160"/>
            </a:xfrm>
            <a:custGeom>
              <a:avLst/>
              <a:gdLst/>
              <a:ahLst/>
              <a:cxnLst/>
              <a:rect r="r" b="b" t="t" l="l"/>
              <a:pathLst>
                <a:path h="1280160" w="2840863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637663" y="0"/>
                  </a:lnTo>
                  <a:cubicBezTo>
                    <a:pt x="2749931" y="0"/>
                    <a:pt x="2840863" y="90932"/>
                    <a:pt x="2840863" y="203200"/>
                  </a:cubicBezTo>
                  <a:lnTo>
                    <a:pt x="2840863" y="1076960"/>
                  </a:lnTo>
                  <a:cubicBezTo>
                    <a:pt x="2840863" y="1189228"/>
                    <a:pt x="2749931" y="1280160"/>
                    <a:pt x="2637663" y="1280160"/>
                  </a:cubicBezTo>
                  <a:lnTo>
                    <a:pt x="203200" y="1280160"/>
                  </a:lnTo>
                  <a:cubicBezTo>
                    <a:pt x="90932" y="1280160"/>
                    <a:pt x="0" y="1189228"/>
                    <a:pt x="0" y="1076960"/>
                  </a:cubicBezTo>
                  <a:close/>
                </a:path>
              </a:pathLst>
            </a:custGeom>
            <a:solidFill>
              <a:srgbClr val="EFE8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840838" cy="13086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sz="2100">
                  <a:solidFill>
                    <a:srgbClr val="1E1446"/>
                  </a:solidFill>
                  <a:latin typeface="Arial"/>
                  <a:ea typeface="Arial"/>
                  <a:cs typeface="Arial"/>
                  <a:sym typeface="Arial"/>
                </a:rPr>
                <a:t>açarlıq</a:t>
              </a:r>
            </a:p>
            <a:p>
              <a:pPr algn="ctr">
                <a:lnSpc>
                  <a:spcPts val="2730"/>
                </a:lnSpc>
              </a:pPr>
              <a:r>
                <a:rPr lang="en-US" sz="2100">
                  <a:solidFill>
                    <a:srgbClr val="1E1446"/>
                  </a:solidFill>
                  <a:latin typeface="Arial"/>
                  <a:ea typeface="Arial"/>
                  <a:cs typeface="Arial"/>
                  <a:sym typeface="Arial"/>
                </a:rPr>
                <a:t>≈ açar halqası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120000">
            <a:off x="11163300" y="2713549"/>
            <a:ext cx="5905500" cy="2771775"/>
            <a:chOff x="0" y="0"/>
            <a:chExt cx="7874000" cy="3695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74000" cy="3695700"/>
            </a:xfrm>
            <a:custGeom>
              <a:avLst/>
              <a:gdLst/>
              <a:ahLst/>
              <a:cxnLst/>
              <a:rect r="r" b="b" t="t" l="l"/>
              <a:pathLst>
                <a:path h="3695700" w="7874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7569200" y="0"/>
                  </a:lnTo>
                  <a:cubicBezTo>
                    <a:pt x="7737475" y="0"/>
                    <a:pt x="7874000" y="136398"/>
                    <a:pt x="7874000" y="304800"/>
                  </a:cubicBezTo>
                  <a:lnTo>
                    <a:pt x="7874000" y="3390900"/>
                  </a:lnTo>
                  <a:cubicBezTo>
                    <a:pt x="7874000" y="3559175"/>
                    <a:pt x="7737602" y="3695700"/>
                    <a:pt x="7569200" y="3695700"/>
                  </a:cubicBezTo>
                  <a:lnTo>
                    <a:pt x="304800" y="3695700"/>
                  </a:lnTo>
                  <a:cubicBezTo>
                    <a:pt x="136525" y="3695700"/>
                    <a:pt x="0" y="3559302"/>
                    <a:pt x="0" y="33909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120000">
            <a:off x="11163300" y="2713549"/>
            <a:ext cx="5905500" cy="2771775"/>
            <a:chOff x="0" y="0"/>
            <a:chExt cx="7874000" cy="3695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7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78740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7569200" y="0"/>
                  </a:lnTo>
                  <a:cubicBezTo>
                    <a:pt x="7737475" y="0"/>
                    <a:pt x="7874000" y="136525"/>
                    <a:pt x="7874000" y="304800"/>
                  </a:cubicBezTo>
                  <a:cubicBezTo>
                    <a:pt x="7874000" y="220599"/>
                    <a:pt x="7805801" y="152400"/>
                    <a:pt x="7721600" y="152400"/>
                  </a:cubicBezTo>
                  <a:lnTo>
                    <a:pt x="304800" y="152400"/>
                  </a:lnTo>
                  <a:cubicBezTo>
                    <a:pt x="220599" y="152400"/>
                    <a:pt x="152400" y="220599"/>
                    <a:pt x="152400" y="304800"/>
                  </a:cubicBezTo>
                  <a:close/>
                </a:path>
              </a:pathLst>
            </a:custGeom>
            <a:solidFill>
              <a:srgbClr val="2EC4A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120000">
            <a:off x="11569643" y="3155869"/>
            <a:ext cx="529780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0E7F69"/>
                </a:solidFill>
                <a:latin typeface="Arial Bold"/>
                <a:ea typeface="Arial Bold"/>
                <a:cs typeface="Arial Bold"/>
                <a:sym typeface="Arial Bold"/>
              </a:rPr>
              <a:t>TAPILIB</a:t>
            </a:r>
          </a:p>
        </p:txBody>
      </p:sp>
      <p:sp>
        <p:nvSpPr>
          <p:cNvPr name="TextBox 23" id="23"/>
          <p:cNvSpPr txBox="true"/>
          <p:nvPr/>
        </p:nvSpPr>
        <p:spPr>
          <a:xfrm rot="120000">
            <a:off x="11535347" y="3689534"/>
            <a:ext cx="529780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«Kitabxanada stulun üstündə </a:t>
            </a:r>
            <a:r>
              <a:rPr lang="en-US" sz="2550">
                <a:solidFill>
                  <a:srgbClr val="0E7F69"/>
                </a:solidFill>
                <a:latin typeface="Arial"/>
                <a:ea typeface="Arial"/>
                <a:cs typeface="Arial"/>
                <a:sym typeface="Arial"/>
              </a:rPr>
              <a:t>tünd </a:t>
            </a:r>
            <a:r>
              <a:rPr lang="en-US" sz="2550" b="true">
                <a:solidFill>
                  <a:srgbClr val="0E7F69"/>
                </a:solidFill>
                <a:latin typeface="Arial Bold"/>
                <a:ea typeface="Arial Bold"/>
                <a:cs typeface="Arial Bold"/>
                <a:sym typeface="Arial Bold"/>
              </a:rPr>
              <a:t>mavi məktəb çantası</a:t>
            </a:r>
            <a:r>
              <a:rPr lang="en-US" sz="25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 qalıb. Üstündə </a:t>
            </a:r>
            <a:r>
              <a:rPr lang="en-US" sz="2550" b="true">
                <a:solidFill>
                  <a:srgbClr val="0E7F69"/>
                </a:solidFill>
                <a:latin typeface="Arial Bold"/>
                <a:ea typeface="Arial Bold"/>
                <a:cs typeface="Arial Bold"/>
                <a:sym typeface="Arial Bold"/>
              </a:rPr>
              <a:t>açar halqası</a:t>
            </a:r>
            <a:r>
              <a:rPr lang="en-US" sz="25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 var.»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9200" y="6225407"/>
            <a:ext cx="7772400" cy="990600"/>
            <a:chOff x="0" y="0"/>
            <a:chExt cx="10363200" cy="132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632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10363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109200" y="0"/>
                  </a:lnTo>
                  <a:cubicBezTo>
                    <a:pt x="10249535" y="0"/>
                    <a:pt x="10363200" y="113665"/>
                    <a:pt x="10363200" y="254000"/>
                  </a:cubicBezTo>
                  <a:lnTo>
                    <a:pt x="10363200" y="1066800"/>
                  </a:lnTo>
                  <a:cubicBezTo>
                    <a:pt x="10363200" y="1207135"/>
                    <a:pt x="10249535" y="1320800"/>
                    <a:pt x="10109200" y="1320800"/>
                  </a:cubicBezTo>
                  <a:lnTo>
                    <a:pt x="254000" y="1320800"/>
                  </a:lnTo>
                  <a:cubicBezTo>
                    <a:pt x="113665" y="1320800"/>
                    <a:pt x="0" y="1207135"/>
                    <a:pt x="0" y="1066800"/>
                  </a:cubicBezTo>
                  <a:close/>
                </a:path>
              </a:pathLst>
            </a:custGeom>
            <a:solidFill>
              <a:srgbClr val="1E144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62100" y="6492107"/>
            <a:ext cx="457200" cy="457200"/>
            <a:chOff x="0" y="0"/>
            <a:chExt cx="609600" cy="609600"/>
          </a:xfrm>
        </p:grpSpPr>
        <p:sp>
          <p:nvSpPr>
            <p:cNvPr name="Freeform 27" id="27" descr="Search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209800" y="6450216"/>
            <a:ext cx="5873772" cy="52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Açar söz axtarışı: </a:t>
            </a:r>
            <a:r>
              <a:rPr lang="en-US" sz="2400" b="true">
                <a:solidFill>
                  <a:srgbClr val="FF8A70"/>
                </a:solidFill>
                <a:latin typeface="Arial Bold"/>
                <a:ea typeface="Arial Bold"/>
                <a:cs typeface="Arial Bold"/>
                <a:sym typeface="Arial Bold"/>
              </a:rPr>
              <a:t>ortaq söz yoxdur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96400" y="6225407"/>
            <a:ext cx="7772400" cy="990600"/>
            <a:chOff x="0" y="0"/>
            <a:chExt cx="10363200" cy="132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3632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103632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10109200" y="0"/>
                  </a:lnTo>
                  <a:cubicBezTo>
                    <a:pt x="10249535" y="0"/>
                    <a:pt x="10363200" y="113665"/>
                    <a:pt x="10363200" y="254000"/>
                  </a:cubicBezTo>
                  <a:lnTo>
                    <a:pt x="10363200" y="1066800"/>
                  </a:lnTo>
                  <a:cubicBezTo>
                    <a:pt x="10363200" y="1207135"/>
                    <a:pt x="10249535" y="1320800"/>
                    <a:pt x="10109200" y="1320800"/>
                  </a:cubicBezTo>
                  <a:lnTo>
                    <a:pt x="254000" y="1320800"/>
                  </a:lnTo>
                  <a:cubicBezTo>
                    <a:pt x="113665" y="1320800"/>
                    <a:pt x="0" y="1207135"/>
                    <a:pt x="0" y="1066800"/>
                  </a:cubicBezTo>
                  <a:close/>
                </a:path>
              </a:pathLst>
            </a:custGeom>
            <a:solidFill>
              <a:srgbClr val="1E144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39300" y="6492107"/>
            <a:ext cx="457200" cy="457200"/>
            <a:chOff x="0" y="0"/>
            <a:chExt cx="609600" cy="609600"/>
          </a:xfrm>
        </p:grpSpPr>
        <p:sp>
          <p:nvSpPr>
            <p:cNvPr name="Freeform 32" id="32" descr="Users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0" y="6450216"/>
            <a:ext cx="4573791" cy="52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İnsan: </a:t>
            </a:r>
            <a:r>
              <a:rPr lang="en-US" sz="2400" b="true">
                <a:solidFill>
                  <a:srgbClr val="4BE0C0"/>
                </a:solidFill>
                <a:latin typeface="Arial Bold"/>
                <a:ea typeface="Arial Bold"/>
                <a:cs typeface="Arial Bold"/>
                <a:sym typeface="Arial Bold"/>
              </a:rPr>
              <a:t>«Bu, eyni çantadır!»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lang="en-US" sz="1800">
                <a:solidFill>
                  <a:srgbClr val="C2391C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 · 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38250"/>
            <a:ext cx="16325088" cy="77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Oxşar görünür, amma </a:t>
            </a:r>
            <a:r>
              <a:rPr lang="en-US" sz="5400" b="true">
                <a:solidFill>
                  <a:srgbClr val="FF8A70"/>
                </a:solidFill>
                <a:latin typeface="Arial Bold"/>
                <a:ea typeface="Arial Bold"/>
                <a:cs typeface="Arial Bold"/>
                <a:sym typeface="Arial Bold"/>
              </a:rPr>
              <a:t>sizin deyil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506932"/>
            <a:ext cx="7696200" cy="3105150"/>
            <a:chOff x="0" y="0"/>
            <a:chExt cx="10261600" cy="4140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61600" cy="4140200"/>
            </a:xfrm>
            <a:custGeom>
              <a:avLst/>
              <a:gdLst/>
              <a:ahLst/>
              <a:cxnLst/>
              <a:rect r="r" b="b" t="t" l="l"/>
              <a:pathLst>
                <a:path h="4140200" w="10261600">
                  <a:moveTo>
                    <a:pt x="0" y="339725"/>
                  </a:moveTo>
                  <a:cubicBezTo>
                    <a:pt x="0" y="152019"/>
                    <a:pt x="152019" y="0"/>
                    <a:pt x="339725" y="0"/>
                  </a:cubicBezTo>
                  <a:lnTo>
                    <a:pt x="9921875" y="0"/>
                  </a:lnTo>
                  <a:cubicBezTo>
                    <a:pt x="10109581" y="0"/>
                    <a:pt x="10261600" y="152019"/>
                    <a:pt x="10261600" y="339725"/>
                  </a:cubicBezTo>
                  <a:lnTo>
                    <a:pt x="10261600" y="3800475"/>
                  </a:lnTo>
                  <a:cubicBezTo>
                    <a:pt x="10261600" y="3988054"/>
                    <a:pt x="10109581" y="4140200"/>
                    <a:pt x="9921875" y="4140200"/>
                  </a:cubicBezTo>
                  <a:lnTo>
                    <a:pt x="339725" y="4140200"/>
                  </a:lnTo>
                  <a:cubicBezTo>
                    <a:pt x="152019" y="4140200"/>
                    <a:pt x="0" y="3988181"/>
                    <a:pt x="0" y="3800475"/>
                  </a:cubicBezTo>
                  <a:close/>
                </a:path>
              </a:pathLst>
            </a:custGeom>
            <a:solidFill>
              <a:srgbClr val="2B1F63"/>
            </a:solidFill>
            <a:ln w="28575" cap="sq">
              <a:solidFill>
                <a:srgbClr val="4BE0C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628775" y="2916507"/>
            <a:ext cx="1905000" cy="2286000"/>
            <a:chOff x="0" y="0"/>
            <a:chExt cx="2540000" cy="3048000"/>
          </a:xfrm>
        </p:grpSpPr>
        <p:sp>
          <p:nvSpPr>
            <p:cNvPr name="Freeform 6" id="6" descr="Açar halqalı lacivərd bel çantası"/>
            <p:cNvSpPr/>
            <p:nvPr/>
          </p:nvSpPr>
          <p:spPr>
            <a:xfrm flipH="false" flipV="false" rot="0">
              <a:off x="0" y="0"/>
              <a:ext cx="2540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914775" y="2941739"/>
            <a:ext cx="2780109" cy="563832"/>
            <a:chOff x="0" y="0"/>
            <a:chExt cx="3706812" cy="7517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06876" cy="751840"/>
            </a:xfrm>
            <a:custGeom>
              <a:avLst/>
              <a:gdLst/>
              <a:ahLst/>
              <a:cxnLst/>
              <a:rect r="r" b="b" t="t" l="l"/>
              <a:pathLst>
                <a:path h="751840" w="3706876">
                  <a:moveTo>
                    <a:pt x="0" y="375920"/>
                  </a:moveTo>
                  <a:cubicBezTo>
                    <a:pt x="0" y="168275"/>
                    <a:pt x="168275" y="0"/>
                    <a:pt x="375920" y="0"/>
                  </a:cubicBezTo>
                  <a:lnTo>
                    <a:pt x="3330956" y="0"/>
                  </a:lnTo>
                  <a:cubicBezTo>
                    <a:pt x="3538601" y="0"/>
                    <a:pt x="3706876" y="168275"/>
                    <a:pt x="3706876" y="375920"/>
                  </a:cubicBezTo>
                  <a:cubicBezTo>
                    <a:pt x="3706876" y="583565"/>
                    <a:pt x="3538601" y="751840"/>
                    <a:pt x="3330956" y="751840"/>
                  </a:cubicBezTo>
                  <a:lnTo>
                    <a:pt x="375920" y="751840"/>
                  </a:lnTo>
                  <a:cubicBezTo>
                    <a:pt x="168275" y="751840"/>
                    <a:pt x="0" y="583438"/>
                    <a:pt x="0" y="375920"/>
                  </a:cubicBezTo>
                  <a:close/>
                </a:path>
              </a:pathLst>
            </a:custGeom>
            <a:solidFill>
              <a:srgbClr val="4BE0C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124325" y="3071212"/>
            <a:ext cx="304800" cy="304800"/>
            <a:chOff x="0" y="0"/>
            <a:chExt cx="406400" cy="406400"/>
          </a:xfrm>
        </p:grpSpPr>
        <p:sp>
          <p:nvSpPr>
            <p:cNvPr name="Freeform 10" id="10" descr="Check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543425" y="2989364"/>
            <a:ext cx="2151459" cy="45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Ehtimal yüksək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14775" y="3629396"/>
            <a:ext cx="472878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Kitabxana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14775" y="4186609"/>
            <a:ext cx="472878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3,5 saat </a:t>
            </a:r>
            <a:r>
              <a:rPr lang="en-US" sz="2250" b="true">
                <a:solidFill>
                  <a:srgbClr val="4BE0C0"/>
                </a:solidFill>
                <a:latin typeface="Arial Bold"/>
                <a:ea typeface="Arial Bold"/>
                <a:cs typeface="Arial Bold"/>
                <a:sym typeface="Arial Bold"/>
              </a:rPr>
              <a:t>sonra</a:t>
            </a:r>
            <a:r>
              <a:rPr lang="en-US" sz="225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 tapılıb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14775" y="4743821"/>
            <a:ext cx="472878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Açar halqası </a:t>
            </a:r>
            <a:r>
              <a:rPr lang="en-US" sz="2250" b="true">
                <a:solidFill>
                  <a:srgbClr val="4BE0C0"/>
                </a:solidFill>
                <a:latin typeface="Arial Bold"/>
                <a:ea typeface="Arial Bold"/>
                <a:cs typeface="Arial Bold"/>
                <a:sym typeface="Arial Bold"/>
              </a:rPr>
              <a:t>var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72600" y="2506932"/>
            <a:ext cx="7696200" cy="3105150"/>
            <a:chOff x="0" y="0"/>
            <a:chExt cx="10261600" cy="4140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61600" cy="4140200"/>
            </a:xfrm>
            <a:custGeom>
              <a:avLst/>
              <a:gdLst/>
              <a:ahLst/>
              <a:cxnLst/>
              <a:rect r="r" b="b" t="t" l="l"/>
              <a:pathLst>
                <a:path h="4140200" w="10261600">
                  <a:moveTo>
                    <a:pt x="0" y="339725"/>
                  </a:moveTo>
                  <a:cubicBezTo>
                    <a:pt x="0" y="152019"/>
                    <a:pt x="152019" y="0"/>
                    <a:pt x="339725" y="0"/>
                  </a:cubicBezTo>
                  <a:lnTo>
                    <a:pt x="9921875" y="0"/>
                  </a:lnTo>
                  <a:cubicBezTo>
                    <a:pt x="10109581" y="0"/>
                    <a:pt x="10261600" y="152019"/>
                    <a:pt x="10261600" y="339725"/>
                  </a:cubicBezTo>
                  <a:lnTo>
                    <a:pt x="10261600" y="3800475"/>
                  </a:lnTo>
                  <a:cubicBezTo>
                    <a:pt x="10261600" y="3988054"/>
                    <a:pt x="10109581" y="4140200"/>
                    <a:pt x="9921875" y="4140200"/>
                  </a:cubicBezTo>
                  <a:lnTo>
                    <a:pt x="339725" y="4140200"/>
                  </a:lnTo>
                  <a:cubicBezTo>
                    <a:pt x="152019" y="4140200"/>
                    <a:pt x="0" y="3988181"/>
                    <a:pt x="0" y="3800475"/>
                  </a:cubicBezTo>
                  <a:close/>
                </a:path>
              </a:pathLst>
            </a:custGeom>
            <a:solidFill>
              <a:srgbClr val="2B1F63"/>
            </a:solidFill>
            <a:ln w="28575" cap="sq">
              <a:solidFill>
                <a:srgbClr val="FF8A7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782175" y="2916507"/>
            <a:ext cx="1905000" cy="2286000"/>
            <a:chOff x="0" y="0"/>
            <a:chExt cx="2540000" cy="3048000"/>
          </a:xfrm>
        </p:grpSpPr>
        <p:sp>
          <p:nvSpPr>
            <p:cNvPr name="Freeform 18" id="18" descr="Zolaqlı göy idman bel çantası, açar halqası yoxdur"/>
            <p:cNvSpPr/>
            <p:nvPr/>
          </p:nvSpPr>
          <p:spPr>
            <a:xfrm flipH="false" flipV="false" rot="0">
              <a:off x="0" y="0"/>
              <a:ext cx="2540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68175" y="2941739"/>
            <a:ext cx="2157260" cy="563832"/>
            <a:chOff x="0" y="0"/>
            <a:chExt cx="2876347" cy="7517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76423" cy="751840"/>
            </a:xfrm>
            <a:custGeom>
              <a:avLst/>
              <a:gdLst/>
              <a:ahLst/>
              <a:cxnLst/>
              <a:rect r="r" b="b" t="t" l="l"/>
              <a:pathLst>
                <a:path h="751840" w="2876423">
                  <a:moveTo>
                    <a:pt x="0" y="375920"/>
                  </a:moveTo>
                  <a:cubicBezTo>
                    <a:pt x="0" y="168275"/>
                    <a:pt x="168275" y="0"/>
                    <a:pt x="375920" y="0"/>
                  </a:cubicBezTo>
                  <a:lnTo>
                    <a:pt x="2500503" y="0"/>
                  </a:lnTo>
                  <a:cubicBezTo>
                    <a:pt x="2708148" y="0"/>
                    <a:pt x="2876423" y="168275"/>
                    <a:pt x="2876423" y="375920"/>
                  </a:cubicBezTo>
                  <a:cubicBezTo>
                    <a:pt x="2876423" y="583565"/>
                    <a:pt x="2708148" y="751840"/>
                    <a:pt x="2500503" y="751840"/>
                  </a:cubicBezTo>
                  <a:lnTo>
                    <a:pt x="375920" y="751840"/>
                  </a:lnTo>
                  <a:cubicBezTo>
                    <a:pt x="168275" y="751840"/>
                    <a:pt x="0" y="583438"/>
                    <a:pt x="0" y="375920"/>
                  </a:cubicBezTo>
                  <a:close/>
                </a:path>
              </a:pathLst>
            </a:custGeom>
            <a:solidFill>
              <a:srgbClr val="FF8A7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277725" y="3071212"/>
            <a:ext cx="304800" cy="304800"/>
            <a:chOff x="0" y="0"/>
            <a:chExt cx="406400" cy="406400"/>
          </a:xfrm>
        </p:grpSpPr>
        <p:sp>
          <p:nvSpPr>
            <p:cNvPr name="Freeform 22" id="22" descr="Warni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696825" y="2989364"/>
            <a:ext cx="1528610" cy="45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Ehtimal az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68175" y="3629396"/>
            <a:ext cx="472878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b="true">
                <a:solidFill>
                  <a:srgbClr val="FF8A70"/>
                </a:solidFill>
                <a:latin typeface="Arial Bold"/>
                <a:ea typeface="Arial Bold"/>
                <a:cs typeface="Arial Bold"/>
                <a:sym typeface="Arial Bold"/>
              </a:rPr>
              <a:t>İdman Mərkəzi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68175" y="4186609"/>
            <a:ext cx="472878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1 gün </a:t>
            </a:r>
            <a:r>
              <a:rPr lang="en-US" sz="2250" b="true">
                <a:solidFill>
                  <a:srgbClr val="FF8A70"/>
                </a:solidFill>
                <a:latin typeface="Arial Bold"/>
                <a:ea typeface="Arial Bold"/>
                <a:cs typeface="Arial Bold"/>
                <a:sym typeface="Arial Bold"/>
              </a:rPr>
              <a:t>ƏVVƏL</a:t>
            </a:r>
            <a:r>
              <a:rPr lang="en-US" sz="225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 tapılıb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68175" y="4743821"/>
            <a:ext cx="472878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Açar halqası </a:t>
            </a:r>
            <a:r>
              <a:rPr lang="en-US" sz="2250" b="true">
                <a:solidFill>
                  <a:srgbClr val="FF8A70"/>
                </a:solidFill>
                <a:latin typeface="Arial Bold"/>
                <a:ea typeface="Arial Bold"/>
                <a:cs typeface="Arial Bold"/>
                <a:sym typeface="Arial Bold"/>
              </a:rPr>
              <a:t>yoxdur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9200" y="6097857"/>
            <a:ext cx="1632508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Rəng eyni, növ eyni. FoundIt fərqi görür — və </a:t>
            </a:r>
            <a:r>
              <a:rPr lang="en-US" sz="30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səbəbini deyir</a:t>
            </a:r>
            <a:r>
              <a:rPr lang="en-US" sz="30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lang="en-US" sz="1800">
                <a:solidFill>
                  <a:srgbClr val="FF8A70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 · 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38250"/>
            <a:ext cx="16325088" cy="77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Dörd sadə addım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71675" y="2659332"/>
            <a:ext cx="1714500" cy="1714500"/>
            <a:chOff x="0" y="0"/>
            <a:chExt cx="22860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1143000"/>
                  </a:moveTo>
                  <a:cubicBezTo>
                    <a:pt x="0" y="511683"/>
                    <a:pt x="511683" y="0"/>
                    <a:pt x="1143000" y="0"/>
                  </a:cubicBezTo>
                  <a:cubicBezTo>
                    <a:pt x="1774317" y="0"/>
                    <a:pt x="2286000" y="511683"/>
                    <a:pt x="2286000" y="1143000"/>
                  </a:cubicBezTo>
                  <a:cubicBezTo>
                    <a:pt x="2286000" y="1774317"/>
                    <a:pt x="1774317" y="2286000"/>
                    <a:pt x="1143000" y="2286000"/>
                  </a:cubicBezTo>
                  <a:cubicBezTo>
                    <a:pt x="511683" y="2286000"/>
                    <a:pt x="0" y="1774317"/>
                    <a:pt x="0" y="1143000"/>
                  </a:cubicBezTo>
                  <a:close/>
                </a:path>
              </a:pathLst>
            </a:custGeom>
            <a:solidFill>
              <a:srgbClr val="FF6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409825" y="3097482"/>
            <a:ext cx="838200" cy="838200"/>
            <a:chOff x="0" y="0"/>
            <a:chExt cx="1117600" cy="1117600"/>
          </a:xfrm>
        </p:grpSpPr>
        <p:sp>
          <p:nvSpPr>
            <p:cNvPr name="Freeform 6" id="6" descr="PaperPlane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12032" y="4573857"/>
            <a:ext cx="1633776" cy="5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1. Yaz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0908" y="5286299"/>
            <a:ext cx="3316034" cy="83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Nəyi itirdin, nəyi tapdın. İstəsən, gizli detal əlavə et.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667250" y="2659332"/>
            <a:ext cx="533400" cy="266700"/>
            <a:chOff x="0" y="0"/>
            <a:chExt cx="711200" cy="355600"/>
          </a:xfrm>
        </p:grpSpPr>
        <p:sp>
          <p:nvSpPr>
            <p:cNvPr name="Freeform 10" id="10" descr="arrow-right"/>
            <p:cNvSpPr/>
            <p:nvPr/>
          </p:nvSpPr>
          <p:spPr>
            <a:xfrm flipH="false" flipV="false" rot="0">
              <a:off x="0" y="0"/>
              <a:ext cx="711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181725" y="2659332"/>
            <a:ext cx="1714500" cy="1714500"/>
            <a:chOff x="0" y="0"/>
            <a:chExt cx="22860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1143000"/>
                  </a:moveTo>
                  <a:cubicBezTo>
                    <a:pt x="0" y="511683"/>
                    <a:pt x="511683" y="0"/>
                    <a:pt x="1143000" y="0"/>
                  </a:cubicBezTo>
                  <a:cubicBezTo>
                    <a:pt x="1774317" y="0"/>
                    <a:pt x="2286000" y="511683"/>
                    <a:pt x="2286000" y="1143000"/>
                  </a:cubicBezTo>
                  <a:cubicBezTo>
                    <a:pt x="2286000" y="1774317"/>
                    <a:pt x="1774317" y="2286000"/>
                    <a:pt x="1143000" y="2286000"/>
                  </a:cubicBezTo>
                  <a:cubicBezTo>
                    <a:pt x="511683" y="2286000"/>
                    <a:pt x="0" y="1774317"/>
                    <a:pt x="0" y="1143000"/>
                  </a:cubicBezTo>
                  <a:close/>
                </a:path>
              </a:pathLst>
            </a:custGeom>
            <a:solidFill>
              <a:srgbClr val="1E144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19875" y="3097482"/>
            <a:ext cx="838200" cy="838200"/>
            <a:chOff x="0" y="0"/>
            <a:chExt cx="1117600" cy="1117600"/>
          </a:xfrm>
        </p:grpSpPr>
        <p:sp>
          <p:nvSpPr>
            <p:cNvPr name="Freeform 14" id="14" descr="Search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949372" y="4573857"/>
            <a:ext cx="2179206" cy="5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2. Axtar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80958" y="5286299"/>
            <a:ext cx="3316034" cy="83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AI uyğun namizədləri tapır və sıralayır.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877300" y="2659332"/>
            <a:ext cx="533400" cy="266700"/>
            <a:chOff x="0" y="0"/>
            <a:chExt cx="711200" cy="355600"/>
          </a:xfrm>
        </p:grpSpPr>
        <p:sp>
          <p:nvSpPr>
            <p:cNvPr name="Freeform 18" id="18" descr="arrow-right"/>
            <p:cNvSpPr/>
            <p:nvPr/>
          </p:nvSpPr>
          <p:spPr>
            <a:xfrm flipH="false" flipV="false" rot="0">
              <a:off x="0" y="0"/>
              <a:ext cx="711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391775" y="2659332"/>
            <a:ext cx="1714500" cy="1714500"/>
            <a:chOff x="0" y="0"/>
            <a:chExt cx="2286000" cy="228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1143000"/>
                  </a:moveTo>
                  <a:cubicBezTo>
                    <a:pt x="0" y="511683"/>
                    <a:pt x="511683" y="0"/>
                    <a:pt x="1143000" y="0"/>
                  </a:cubicBezTo>
                  <a:cubicBezTo>
                    <a:pt x="1774317" y="0"/>
                    <a:pt x="2286000" y="511683"/>
                    <a:pt x="2286000" y="1143000"/>
                  </a:cubicBezTo>
                  <a:cubicBezTo>
                    <a:pt x="2286000" y="1774317"/>
                    <a:pt x="1774317" y="2286000"/>
                    <a:pt x="1143000" y="2286000"/>
                  </a:cubicBezTo>
                  <a:cubicBezTo>
                    <a:pt x="511683" y="2286000"/>
                    <a:pt x="0" y="1774317"/>
                    <a:pt x="0" y="1143000"/>
                  </a:cubicBezTo>
                  <a:close/>
                </a:path>
              </a:pathLst>
            </a:custGeom>
            <a:solidFill>
              <a:srgbClr val="4BE0C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829925" y="3097482"/>
            <a:ext cx="838200" cy="838200"/>
            <a:chOff x="0" y="0"/>
            <a:chExt cx="1117600" cy="1117600"/>
          </a:xfrm>
        </p:grpSpPr>
        <p:sp>
          <p:nvSpPr>
            <p:cNvPr name="Freeform 22" id="22" descr="Lightbulb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298906" y="4573857"/>
            <a:ext cx="1900238" cy="5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3. Anla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1008" y="5286299"/>
            <a:ext cx="3316034" cy="83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Hər nəticədə: niyə uyğundur, niyə yox.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087350" y="2659332"/>
            <a:ext cx="533400" cy="266700"/>
            <a:chOff x="0" y="0"/>
            <a:chExt cx="711200" cy="355600"/>
          </a:xfrm>
        </p:grpSpPr>
        <p:sp>
          <p:nvSpPr>
            <p:cNvPr name="Freeform 26" id="26" descr="arrow-right"/>
            <p:cNvSpPr/>
            <p:nvPr/>
          </p:nvSpPr>
          <p:spPr>
            <a:xfrm flipH="false" flipV="false" rot="0">
              <a:off x="0" y="0"/>
              <a:ext cx="711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601825" y="2659332"/>
            <a:ext cx="1714500" cy="1714500"/>
            <a:chOff x="0" y="0"/>
            <a:chExt cx="2286000" cy="228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1143000"/>
                  </a:moveTo>
                  <a:cubicBezTo>
                    <a:pt x="0" y="511683"/>
                    <a:pt x="511683" y="0"/>
                    <a:pt x="1143000" y="0"/>
                  </a:cubicBezTo>
                  <a:cubicBezTo>
                    <a:pt x="1774317" y="0"/>
                    <a:pt x="2286000" y="511683"/>
                    <a:pt x="2286000" y="1143000"/>
                  </a:cubicBezTo>
                  <a:cubicBezTo>
                    <a:pt x="2286000" y="1774317"/>
                    <a:pt x="1774317" y="2286000"/>
                    <a:pt x="1143000" y="2286000"/>
                  </a:cubicBezTo>
                  <a:cubicBezTo>
                    <a:pt x="511683" y="2286000"/>
                    <a:pt x="0" y="1774317"/>
                    <a:pt x="0" y="1143000"/>
                  </a:cubicBezTo>
                  <a:close/>
                </a:path>
              </a:pathLst>
            </a:custGeom>
            <a:solidFill>
              <a:srgbClr val="FFC94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039975" y="3097482"/>
            <a:ext cx="838200" cy="838200"/>
            <a:chOff x="0" y="0"/>
            <a:chExt cx="1117600" cy="1117600"/>
          </a:xfrm>
        </p:grpSpPr>
        <p:sp>
          <p:nvSpPr>
            <p:cNvPr name="Freeform 30" id="30" descr="Verified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371434" y="4573857"/>
            <a:ext cx="2175272" cy="5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4. Yoxla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01058" y="5286299"/>
            <a:ext cx="3316034" cy="83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Təhvildən əvvəl sahiblik sübut olunur.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lang="en-US" sz="1800">
                <a:solidFill>
                  <a:srgbClr val="C2391C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 · 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09675"/>
            <a:ext cx="16325088" cy="162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4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Model </a:t>
            </a:r>
            <a:r>
              <a:rPr lang="en-US" sz="5400" b="true">
                <a:solidFill>
                  <a:srgbClr val="FF8A70"/>
                </a:solidFill>
                <a:latin typeface="Arial Bold"/>
                <a:ea typeface="Arial Bold"/>
                <a:cs typeface="Arial Bold"/>
                <a:sym typeface="Arial Bold"/>
              </a:rPr>
              <a:t>təklif edir</a:t>
            </a:r>
            <a:r>
              <a:rPr lang="en-US" sz="54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l">
              <a:lnSpc>
                <a:spcPts val="6209"/>
              </a:lnSpc>
            </a:pPr>
            <a:r>
              <a:rPr lang="en-US" sz="54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Python </a:t>
            </a:r>
            <a:r>
              <a:rPr lang="en-US" sz="5400" b="true">
                <a:solidFill>
                  <a:srgbClr val="4BE0C0"/>
                </a:solidFill>
                <a:latin typeface="Arial Bold"/>
                <a:ea typeface="Arial Bold"/>
                <a:cs typeface="Arial Bold"/>
                <a:sym typeface="Arial Bold"/>
              </a:rPr>
              <a:t>qərar verir</a:t>
            </a:r>
            <a:r>
              <a:rPr lang="en-US" sz="54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15408" y="3406083"/>
            <a:ext cx="1428750" cy="1428750"/>
            <a:chOff x="0" y="0"/>
            <a:chExt cx="1905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FF6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186883" y="3777558"/>
            <a:ext cx="685800" cy="685800"/>
            <a:chOff x="0" y="0"/>
            <a:chExt cx="914400" cy="914400"/>
          </a:xfrm>
        </p:grpSpPr>
        <p:sp>
          <p:nvSpPr>
            <p:cNvPr name="Freeform 6" id="6" descr="Book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08740" y="4996758"/>
            <a:ext cx="842162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Oxu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12201" y="5509174"/>
            <a:ext cx="1235154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8A70"/>
                </a:solidFill>
                <a:latin typeface="Arial Bold"/>
                <a:ea typeface="Arial Bold"/>
                <a:cs typeface="Arial Bold"/>
                <a:sym typeface="Arial Bold"/>
              </a:rPr>
              <a:t>Gemma 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2928" y="6010123"/>
            <a:ext cx="2393785" cy="39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sözləri standart edir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954732" y="3406083"/>
            <a:ext cx="457200" cy="228600"/>
            <a:chOff x="0" y="0"/>
            <a:chExt cx="609600" cy="304800"/>
          </a:xfrm>
        </p:grpSpPr>
        <p:sp>
          <p:nvSpPr>
            <p:cNvPr name="Freeform 11" id="11" descr="arrow-right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22516" y="3406083"/>
            <a:ext cx="1428750" cy="1428750"/>
            <a:chOff x="0" y="0"/>
            <a:chExt cx="1905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4BE0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93991" y="3777558"/>
            <a:ext cx="685800" cy="685800"/>
            <a:chOff x="0" y="0"/>
            <a:chExt cx="914400" cy="914400"/>
          </a:xfrm>
        </p:grpSpPr>
        <p:sp>
          <p:nvSpPr>
            <p:cNvPr name="Freeform 15" id="15" descr="Database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437299" y="4996758"/>
            <a:ext cx="799119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Seç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72100" y="5509174"/>
            <a:ext cx="929583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4BE0C0"/>
                </a:solidFill>
                <a:latin typeface="Arial Bold"/>
                <a:ea typeface="Arial Bold"/>
                <a:cs typeface="Arial Bold"/>
                <a:sym typeface="Arial Bold"/>
              </a:rPr>
              <a:t>Python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55134" y="6010123"/>
            <a:ext cx="2363505" cy="39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ən yaxşı 5 namizəd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261841" y="3406083"/>
            <a:ext cx="457200" cy="228600"/>
            <a:chOff x="0" y="0"/>
            <a:chExt cx="609600" cy="304800"/>
          </a:xfrm>
        </p:grpSpPr>
        <p:sp>
          <p:nvSpPr>
            <p:cNvPr name="Freeform 20" id="20" descr="arrow-right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29549" y="3406083"/>
            <a:ext cx="1428750" cy="1428750"/>
            <a:chOff x="0" y="0"/>
            <a:chExt cx="1905000" cy="190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FF6B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801024" y="3777558"/>
            <a:ext cx="685800" cy="685800"/>
            <a:chOff x="0" y="0"/>
            <a:chExt cx="914400" cy="914400"/>
          </a:xfrm>
        </p:grpSpPr>
        <p:sp>
          <p:nvSpPr>
            <p:cNvPr name="Freeform 24" id="24" descr="Chat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160763" y="4996758"/>
            <a:ext cx="1966312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Müqayisə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48681" y="5509174"/>
            <a:ext cx="990571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8A70"/>
                </a:solidFill>
                <a:latin typeface="Arial Bold"/>
                <a:ea typeface="Arial Bold"/>
                <a:cs typeface="Arial Bold"/>
                <a:sym typeface="Arial Bold"/>
              </a:rPr>
              <a:t>gpt-oss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54661" y="6010123"/>
            <a:ext cx="2378602" cy="39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sübutu sitatla gətirir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568883" y="3406083"/>
            <a:ext cx="457200" cy="228600"/>
            <a:chOff x="0" y="0"/>
            <a:chExt cx="609600" cy="304800"/>
          </a:xfrm>
        </p:grpSpPr>
        <p:sp>
          <p:nvSpPr>
            <p:cNvPr name="Freeform 29" id="29" descr="arrow-right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736657" y="3406083"/>
            <a:ext cx="1428750" cy="1428750"/>
            <a:chOff x="0" y="0"/>
            <a:chExt cx="1905000" cy="1905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4BE0C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108132" y="3777558"/>
            <a:ext cx="685800" cy="685800"/>
            <a:chOff x="0" y="0"/>
            <a:chExt cx="914400" cy="914400"/>
          </a:xfrm>
        </p:grpSpPr>
        <p:sp>
          <p:nvSpPr>
            <p:cNvPr name="Freeform 33" id="33" descr="CheckCircle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869712" y="4996758"/>
            <a:ext cx="1162650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Yoxla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86241" y="5509174"/>
            <a:ext cx="929583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4BE0C0"/>
                </a:solidFill>
                <a:latin typeface="Arial Bold"/>
                <a:ea typeface="Arial Bold"/>
                <a:cs typeface="Arial Bold"/>
                <a:sym typeface="Arial Bold"/>
              </a:rPr>
              <a:t>Python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53314" y="6010123"/>
            <a:ext cx="2195360" cy="39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uydurma sitatı atır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875991" y="3406083"/>
            <a:ext cx="457200" cy="228600"/>
            <a:chOff x="0" y="0"/>
            <a:chExt cx="609600" cy="304800"/>
          </a:xfrm>
        </p:grpSpPr>
        <p:sp>
          <p:nvSpPr>
            <p:cNvPr name="Freeform 38" id="38" descr="arrow-right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043766" y="3406083"/>
            <a:ext cx="1428750" cy="1428750"/>
            <a:chOff x="0" y="0"/>
            <a:chExt cx="1905000" cy="1905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4BE0C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415241" y="3777558"/>
            <a:ext cx="685800" cy="685800"/>
            <a:chOff x="0" y="0"/>
            <a:chExt cx="914400" cy="914400"/>
          </a:xfrm>
        </p:grpSpPr>
        <p:sp>
          <p:nvSpPr>
            <p:cNvPr name="Freeform 42" id="42" descr="Chart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5018325" y="4996758"/>
            <a:ext cx="1479556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Bal ver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293359" y="5509174"/>
            <a:ext cx="929583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4BE0C0"/>
                </a:solidFill>
                <a:latin typeface="Arial Bold"/>
                <a:ea typeface="Arial Bold"/>
                <a:cs typeface="Arial Bold"/>
                <a:sym typeface="Arial Bold"/>
              </a:rPr>
              <a:t>Python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351365" y="6010123"/>
            <a:ext cx="2813571" cy="39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sabit cədvəl + qaydalar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19200" y="7034955"/>
            <a:ext cx="228600" cy="228600"/>
            <a:chOff x="0" y="0"/>
            <a:chExt cx="304800" cy="304800"/>
          </a:xfrm>
        </p:grpSpPr>
        <p:sp>
          <p:nvSpPr>
            <p:cNvPr name="Freeform 47" id="47" descr="ellipse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562100" y="6918798"/>
            <a:ext cx="1899609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Açıq AI modeli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3526107" y="7034955"/>
            <a:ext cx="228600" cy="228600"/>
            <a:chOff x="0" y="0"/>
            <a:chExt cx="304800" cy="304800"/>
          </a:xfrm>
        </p:grpSpPr>
        <p:sp>
          <p:nvSpPr>
            <p:cNvPr name="Freeform 50" id="50" descr="ellipse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3869007" y="6918798"/>
            <a:ext cx="2659704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Etibarlı Python kodu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lang="en-US" sz="1800">
                <a:solidFill>
                  <a:srgbClr val="FF8A70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 · 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38250"/>
            <a:ext cx="16325088" cy="77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Bal </a:t>
            </a:r>
            <a:r>
              <a:rPr lang="en-US" sz="5400" b="true">
                <a:solidFill>
                  <a:srgbClr val="C2391C"/>
                </a:solidFill>
                <a:latin typeface="Arial Bold"/>
                <a:ea typeface="Arial Bold"/>
                <a:cs typeface="Arial Bold"/>
                <a:sym typeface="Arial Bold"/>
              </a:rPr>
              <a:t>faiz deyil</a:t>
            </a:r>
            <a:r>
              <a:rPr lang="en-US" sz="54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 — şəffaf cəmdir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506932"/>
            <a:ext cx="4488209" cy="1714500"/>
            <a:chOff x="0" y="0"/>
            <a:chExt cx="5984278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8424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98424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5984240" y="0"/>
                  </a:lnTo>
                  <a:lnTo>
                    <a:pt x="5984240" y="2286000"/>
                  </a:lnTo>
                  <a:lnTo>
                    <a:pt x="304800" y="2286000"/>
                  </a:lnTo>
                  <a:cubicBezTo>
                    <a:pt x="136525" y="2286000"/>
                    <a:pt x="0" y="2149475"/>
                    <a:pt x="0" y="1981200"/>
                  </a:cubicBezTo>
                  <a:close/>
                </a:path>
              </a:pathLst>
            </a:custGeom>
            <a:solidFill>
              <a:srgbClr val="1E144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85900" y="2703166"/>
            <a:ext cx="4073452" cy="88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30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5900" y="3526107"/>
            <a:ext cx="4073452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Kateqoriya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707409" y="2506932"/>
            <a:ext cx="3169891" cy="1714500"/>
            <a:chOff x="0" y="0"/>
            <a:chExt cx="4226522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265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226560">
                  <a:moveTo>
                    <a:pt x="0" y="0"/>
                  </a:moveTo>
                  <a:lnTo>
                    <a:pt x="4226560" y="0"/>
                  </a:lnTo>
                  <a:lnTo>
                    <a:pt x="422656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6B4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974109" y="2703166"/>
            <a:ext cx="2715587" cy="88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20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74109" y="3526107"/>
            <a:ext cx="2715587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Rəng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77300" y="2506932"/>
            <a:ext cx="3169891" cy="1714500"/>
            <a:chOff x="0" y="0"/>
            <a:chExt cx="4226522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265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226560">
                  <a:moveTo>
                    <a:pt x="0" y="0"/>
                  </a:moveTo>
                  <a:lnTo>
                    <a:pt x="4226560" y="0"/>
                  </a:lnTo>
                  <a:lnTo>
                    <a:pt x="422656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4BE0C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144000" y="2703166"/>
            <a:ext cx="2715587" cy="88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526107"/>
            <a:ext cx="2715587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Yer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47191" y="2506932"/>
            <a:ext cx="2510809" cy="1714500"/>
            <a:chOff x="0" y="0"/>
            <a:chExt cx="3347745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477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347720">
                  <a:moveTo>
                    <a:pt x="0" y="0"/>
                  </a:moveTo>
                  <a:lnTo>
                    <a:pt x="3347720" y="0"/>
                  </a:lnTo>
                  <a:lnTo>
                    <a:pt x="334772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C9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313891" y="2703166"/>
            <a:ext cx="2053609" cy="88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15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13891" y="3526107"/>
            <a:ext cx="2053609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Vaxt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557991" y="2506932"/>
            <a:ext cx="2510809" cy="1714500"/>
            <a:chOff x="0" y="0"/>
            <a:chExt cx="3347745" cy="228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477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347720">
                  <a:moveTo>
                    <a:pt x="3042920" y="0"/>
                  </a:moveTo>
                  <a:cubicBezTo>
                    <a:pt x="3211195" y="0"/>
                    <a:pt x="3347720" y="136525"/>
                    <a:pt x="3347720" y="304800"/>
                  </a:cubicBezTo>
                  <a:lnTo>
                    <a:pt x="3347720" y="1981200"/>
                  </a:lnTo>
                  <a:cubicBezTo>
                    <a:pt x="3347720" y="2149475"/>
                    <a:pt x="3211195" y="2286000"/>
                    <a:pt x="3042920" y="2286000"/>
                  </a:cubicBez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A7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824691" y="2703166"/>
            <a:ext cx="2053609" cy="88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15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24691" y="3526107"/>
            <a:ext cx="2053609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Detallar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9200" y="4754832"/>
            <a:ext cx="7772400" cy="1381125"/>
            <a:chOff x="0" y="0"/>
            <a:chExt cx="10363200" cy="1841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632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10363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058400" y="0"/>
                  </a:lnTo>
                  <a:cubicBezTo>
                    <a:pt x="10226802" y="0"/>
                    <a:pt x="10363200" y="136525"/>
                    <a:pt x="10363200" y="304800"/>
                  </a:cubicBezTo>
                  <a:lnTo>
                    <a:pt x="10363200" y="1536700"/>
                  </a:lnTo>
                  <a:cubicBezTo>
                    <a:pt x="10363200" y="1705102"/>
                    <a:pt x="10226675" y="1841500"/>
                    <a:pt x="10058400" y="1841500"/>
                  </a:cubicBezTo>
                  <a:lnTo>
                    <a:pt x="304800" y="1841500"/>
                  </a:lnTo>
                  <a:cubicBezTo>
                    <a:pt x="136398" y="1841500"/>
                    <a:pt x="0" y="1704975"/>
                    <a:pt x="0" y="15367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24000" y="5178695"/>
            <a:ext cx="433988" cy="533400"/>
            <a:chOff x="0" y="0"/>
            <a:chExt cx="578650" cy="711200"/>
          </a:xfrm>
        </p:grpSpPr>
        <p:sp>
          <p:nvSpPr>
            <p:cNvPr name="Freeform 26" id="26" descr="Search"/>
            <p:cNvSpPr/>
            <p:nvPr/>
          </p:nvSpPr>
          <p:spPr>
            <a:xfrm flipH="false" flipV="false" rot="0">
              <a:off x="0" y="0"/>
              <a:ext cx="578612" cy="711200"/>
            </a:xfrm>
            <a:custGeom>
              <a:avLst/>
              <a:gdLst/>
              <a:ahLst/>
              <a:cxnLst/>
              <a:rect r="r" b="b" t="t" l="l"/>
              <a:pathLst>
                <a:path h="711200" w="578612">
                  <a:moveTo>
                    <a:pt x="0" y="0"/>
                  </a:moveTo>
                  <a:lnTo>
                    <a:pt x="578612" y="0"/>
                  </a:lnTo>
                  <a:lnTo>
                    <a:pt x="578612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475" r="-6" b="474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186588" y="5012007"/>
            <a:ext cx="669522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Məlumat yoxdursa → </a:t>
            </a:r>
            <a:r>
              <a:rPr lang="en-US" sz="225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0 bal</a:t>
            </a:r>
            <a:r>
              <a:rPr lang="en-US" sz="22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. Boşluq heç vaxt uyğunluq sayılmır.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96400" y="4754832"/>
            <a:ext cx="7772400" cy="1381125"/>
            <a:chOff x="0" y="0"/>
            <a:chExt cx="10363200" cy="1841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632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10363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058400" y="0"/>
                  </a:lnTo>
                  <a:cubicBezTo>
                    <a:pt x="10226802" y="0"/>
                    <a:pt x="10363200" y="136525"/>
                    <a:pt x="10363200" y="304800"/>
                  </a:cubicBezTo>
                  <a:lnTo>
                    <a:pt x="10363200" y="1536700"/>
                  </a:lnTo>
                  <a:cubicBezTo>
                    <a:pt x="10363200" y="1705102"/>
                    <a:pt x="10226675" y="1841500"/>
                    <a:pt x="10058400" y="1841500"/>
                  </a:cubicBezTo>
                  <a:lnTo>
                    <a:pt x="304800" y="1841500"/>
                  </a:lnTo>
                  <a:cubicBezTo>
                    <a:pt x="136398" y="1841500"/>
                    <a:pt x="0" y="1704975"/>
                    <a:pt x="0" y="15367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01200" y="5178695"/>
            <a:ext cx="445960" cy="533400"/>
            <a:chOff x="0" y="0"/>
            <a:chExt cx="594614" cy="711200"/>
          </a:xfrm>
        </p:grpSpPr>
        <p:sp>
          <p:nvSpPr>
            <p:cNvPr name="Freeform 31" id="31" descr="Warning"/>
            <p:cNvSpPr/>
            <p:nvPr/>
          </p:nvSpPr>
          <p:spPr>
            <a:xfrm flipH="false" flipV="false" rot="0">
              <a:off x="0" y="0"/>
              <a:ext cx="594614" cy="711200"/>
            </a:xfrm>
            <a:custGeom>
              <a:avLst/>
              <a:gdLst/>
              <a:ahLst/>
              <a:cxnLst/>
              <a:rect r="r" b="b" t="t" l="l"/>
              <a:pathLst>
                <a:path h="711200" w="594614">
                  <a:moveTo>
                    <a:pt x="0" y="0"/>
                  </a:moveTo>
                  <a:lnTo>
                    <a:pt x="594614" y="0"/>
                  </a:lnTo>
                  <a:lnTo>
                    <a:pt x="594614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191" r="0" b="19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275760" y="5012007"/>
            <a:ext cx="668288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Vaxt ziddiyyəti və ya fərqli gizli detal → həmişə </a:t>
            </a:r>
            <a:r>
              <a:rPr lang="en-US" sz="225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«ehtimal az»</a:t>
            </a:r>
            <a:r>
              <a:rPr lang="en-US" sz="22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lang="en-US" sz="1800">
                <a:solidFill>
                  <a:srgbClr val="C2391C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 · 07 · Balı model yox, Python hesablayır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38250"/>
            <a:ext cx="16325088" cy="77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İki açıq model, </a:t>
            </a:r>
            <a:r>
              <a:rPr lang="en-US" sz="5400" b="true">
                <a:solidFill>
                  <a:srgbClr val="C2391C"/>
                </a:solidFill>
                <a:latin typeface="Arial Bold"/>
                <a:ea typeface="Arial Bold"/>
                <a:cs typeface="Arial Bold"/>
                <a:sym typeface="Arial Bold"/>
              </a:rPr>
              <a:t>iki rol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57374"/>
            <a:ext cx="7317429" cy="3360391"/>
            <a:chOff x="0" y="0"/>
            <a:chExt cx="9756572" cy="44805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56521" cy="4480560"/>
            </a:xfrm>
            <a:custGeom>
              <a:avLst/>
              <a:gdLst/>
              <a:ahLst/>
              <a:cxnLst/>
              <a:rect r="r" b="b" t="t" l="l"/>
              <a:pathLst>
                <a:path h="4480560" w="9756521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9400921" y="0"/>
                  </a:lnTo>
                  <a:cubicBezTo>
                    <a:pt x="9597263" y="0"/>
                    <a:pt x="9756521" y="159258"/>
                    <a:pt x="9756521" y="355600"/>
                  </a:cubicBezTo>
                  <a:lnTo>
                    <a:pt x="9756521" y="4124960"/>
                  </a:lnTo>
                  <a:cubicBezTo>
                    <a:pt x="9756521" y="4321302"/>
                    <a:pt x="9597263" y="4480560"/>
                    <a:pt x="9400921" y="4480560"/>
                  </a:cubicBezTo>
                  <a:lnTo>
                    <a:pt x="355600" y="4480560"/>
                  </a:lnTo>
                  <a:cubicBezTo>
                    <a:pt x="159258" y="4480560"/>
                    <a:pt x="0" y="4321302"/>
                    <a:pt x="0" y="41249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38300" y="2876474"/>
            <a:ext cx="1047750" cy="1047750"/>
            <a:chOff x="0" y="0"/>
            <a:chExt cx="1397000" cy="139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cubicBezTo>
                    <a:pt x="1084326" y="0"/>
                    <a:pt x="1397000" y="312674"/>
                    <a:pt x="1397000" y="698500"/>
                  </a:cubicBezTo>
                  <a:cubicBezTo>
                    <a:pt x="1397000" y="1084326"/>
                    <a:pt x="1084326" y="1397000"/>
                    <a:pt x="698500" y="1397000"/>
                  </a:cubicBezTo>
                  <a:cubicBezTo>
                    <a:pt x="312674" y="1397000"/>
                    <a:pt x="0" y="1084326"/>
                    <a:pt x="0" y="698500"/>
                  </a:cubicBezTo>
                  <a:close/>
                </a:path>
              </a:pathLst>
            </a:custGeom>
            <a:solidFill>
              <a:srgbClr val="FF6B4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95475" y="3133649"/>
            <a:ext cx="533400" cy="533400"/>
            <a:chOff x="0" y="0"/>
            <a:chExt cx="711200" cy="711200"/>
          </a:xfrm>
        </p:grpSpPr>
        <p:sp>
          <p:nvSpPr>
            <p:cNvPr name="Freeform 8" id="8" descr="Book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914650" y="2882208"/>
            <a:ext cx="3071365" cy="65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Gemma 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14650" y="3495599"/>
            <a:ext cx="2636253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C2391C"/>
                </a:solidFill>
                <a:latin typeface="Arial Bold"/>
                <a:ea typeface="Arial Bold"/>
                <a:cs typeface="Arial Bold"/>
                <a:sym typeface="Arial Bold"/>
              </a:rPr>
              <a:t>«Oxuyucu»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8300" y="4057574"/>
            <a:ext cx="667360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Hər yeni hesabatı oxuyur və standartlaşdırır.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8300" y="4648124"/>
            <a:ext cx="6673606" cy="78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Ehtiyat rolu: müqayisəni «sahə rejimində» edir · Google AI Studio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17629" y="3524174"/>
            <a:ext cx="543277" cy="113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5B4CA8"/>
                </a:solidFill>
                <a:latin typeface="Arial Bold"/>
                <a:ea typeface="Arial Bold"/>
                <a:cs typeface="Arial Bold"/>
                <a:sym typeface="Arial Bold"/>
              </a:rPr>
              <a:t>+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51371" y="2430732"/>
            <a:ext cx="7317429" cy="3413741"/>
            <a:chOff x="0" y="0"/>
            <a:chExt cx="9756572" cy="45516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6521" cy="4551680"/>
            </a:xfrm>
            <a:custGeom>
              <a:avLst/>
              <a:gdLst/>
              <a:ahLst/>
              <a:cxnLst/>
              <a:rect r="r" b="b" t="t" l="l"/>
              <a:pathLst>
                <a:path h="4551680" w="9756521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9400921" y="0"/>
                  </a:lnTo>
                  <a:cubicBezTo>
                    <a:pt x="9597263" y="0"/>
                    <a:pt x="9756521" y="159258"/>
                    <a:pt x="9756521" y="355600"/>
                  </a:cubicBezTo>
                  <a:lnTo>
                    <a:pt x="9756521" y="4196080"/>
                  </a:lnTo>
                  <a:cubicBezTo>
                    <a:pt x="9756521" y="4392422"/>
                    <a:pt x="9597263" y="4551680"/>
                    <a:pt x="9400921" y="4551680"/>
                  </a:cubicBezTo>
                  <a:lnTo>
                    <a:pt x="355600" y="4551680"/>
                  </a:lnTo>
                  <a:cubicBezTo>
                    <a:pt x="159258" y="4551680"/>
                    <a:pt x="0" y="4392422"/>
                    <a:pt x="0" y="4196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170471" y="2849832"/>
            <a:ext cx="1047750" cy="1047750"/>
            <a:chOff x="0" y="0"/>
            <a:chExt cx="1397000" cy="139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cubicBezTo>
                    <a:pt x="1084326" y="0"/>
                    <a:pt x="1397000" y="312674"/>
                    <a:pt x="1397000" y="698500"/>
                  </a:cubicBezTo>
                  <a:cubicBezTo>
                    <a:pt x="1397000" y="1084326"/>
                    <a:pt x="1084326" y="1397000"/>
                    <a:pt x="698500" y="1397000"/>
                  </a:cubicBezTo>
                  <a:cubicBezTo>
                    <a:pt x="312674" y="1397000"/>
                    <a:pt x="0" y="1084326"/>
                    <a:pt x="0" y="698500"/>
                  </a:cubicBezTo>
                  <a:close/>
                </a:path>
              </a:pathLst>
            </a:custGeom>
            <a:solidFill>
              <a:srgbClr val="4BE0C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427646" y="3107007"/>
            <a:ext cx="533400" cy="533400"/>
            <a:chOff x="0" y="0"/>
            <a:chExt cx="711200" cy="711200"/>
          </a:xfrm>
        </p:grpSpPr>
        <p:sp>
          <p:nvSpPr>
            <p:cNvPr name="Freeform 19" id="19" descr="Search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446821" y="2855566"/>
            <a:ext cx="2377173" cy="65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gpt-oss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46821" y="3468957"/>
            <a:ext cx="2057181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E7F69"/>
                </a:solidFill>
                <a:latin typeface="Arial Bold"/>
                <a:ea typeface="Arial Bold"/>
                <a:cs typeface="Arial Bold"/>
                <a:sym typeface="Arial Bold"/>
              </a:rPr>
              <a:t>«Detektiv»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70471" y="4030932"/>
            <a:ext cx="667360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Namizədləri müqayisə edir, sübutu hərfi sitatla gətirir.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70471" y="5021532"/>
            <a:ext cx="6673606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Ehtiyat rolu: Gemma işləməsə, hesabatları oxuyur · Groq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9200" y="6301683"/>
            <a:ext cx="15849600" cy="990600"/>
            <a:chOff x="0" y="0"/>
            <a:chExt cx="21132800" cy="132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132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1132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525"/>
                    <a:pt x="21132800" y="304800"/>
                  </a:cubicBezTo>
                  <a:lnTo>
                    <a:pt x="21132800" y="1016000"/>
                  </a:lnTo>
                  <a:cubicBezTo>
                    <a:pt x="21132800" y="1184275"/>
                    <a:pt x="20996275" y="1320800"/>
                    <a:pt x="20828000" y="1320800"/>
                  </a:cubicBezTo>
                  <a:lnTo>
                    <a:pt x="304800" y="1320800"/>
                  </a:lnTo>
                  <a:cubicBezTo>
                    <a:pt x="136525" y="1320800"/>
                    <a:pt x="0" y="1184275"/>
                    <a:pt x="0" y="1016000"/>
                  </a:cubicBezTo>
                  <a:close/>
                </a:path>
              </a:pathLst>
            </a:custGeom>
            <a:solidFill>
              <a:srgbClr val="1E144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00200" y="6568383"/>
            <a:ext cx="457200" cy="457200"/>
            <a:chOff x="0" y="0"/>
            <a:chExt cx="609600" cy="609600"/>
          </a:xfrm>
        </p:grpSpPr>
        <p:sp>
          <p:nvSpPr>
            <p:cNvPr name="Freeform 27" id="27" descr="Key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286000" y="6556477"/>
            <a:ext cx="14782800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İkisi də </a:t>
            </a:r>
            <a:r>
              <a:rPr lang="en-US" sz="2250" b="true">
                <a:solidFill>
                  <a:srgbClr val="FFC94A"/>
                </a:solidFill>
                <a:latin typeface="Arial Bold"/>
                <a:ea typeface="Arial Bold"/>
                <a:cs typeface="Arial Bold"/>
                <a:sym typeface="Arial Bold"/>
              </a:rPr>
              <a:t>open-weight, Apache 2.0</a:t>
            </a:r>
            <a:r>
              <a:rPr lang="en-US" sz="2250">
                <a:solidFill>
                  <a:srgbClr val="FFF6EC"/>
                </a:solidFill>
                <a:latin typeface="Arial"/>
                <a:ea typeface="Arial"/>
                <a:cs typeface="Arial"/>
                <a:sym typeface="Arial"/>
              </a:rPr>
              <a:t>. Rolları ölçərək bölüşdürdük: Google Gemma-nın sitatlarının yarısını blokladı.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lang="en-US" sz="1800">
                <a:solidFill>
                  <a:srgbClr val="C2391C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 · 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38250"/>
            <a:ext cx="16325088" cy="77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Etibar </a:t>
            </a:r>
            <a:r>
              <a:rPr lang="en-US" sz="5400" b="true">
                <a:solidFill>
                  <a:srgbClr val="4BE0C0"/>
                </a:solidFill>
                <a:latin typeface="Arial Bold"/>
                <a:ea typeface="Arial Bold"/>
                <a:cs typeface="Arial Bold"/>
                <a:sym typeface="Arial Bold"/>
              </a:rPr>
              <a:t>dizayndan</a:t>
            </a:r>
            <a:r>
              <a:rPr lang="en-US" sz="54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 gəlir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506932"/>
            <a:ext cx="7772400" cy="1809750"/>
            <a:chOff x="0" y="0"/>
            <a:chExt cx="10363200" cy="241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632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03632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10007600" y="0"/>
                  </a:lnTo>
                  <a:cubicBezTo>
                    <a:pt x="10203942" y="0"/>
                    <a:pt x="10363200" y="159258"/>
                    <a:pt x="10363200" y="355600"/>
                  </a:cubicBezTo>
                  <a:lnTo>
                    <a:pt x="10363200" y="2057400"/>
                  </a:lnTo>
                  <a:cubicBezTo>
                    <a:pt x="10363200" y="2253742"/>
                    <a:pt x="10203942" y="2413000"/>
                    <a:pt x="10007600" y="2413000"/>
                  </a:cubicBezTo>
                  <a:lnTo>
                    <a:pt x="355600" y="2413000"/>
                  </a:lnTo>
                  <a:cubicBezTo>
                    <a:pt x="159258" y="2413000"/>
                    <a:pt x="0" y="2253742"/>
                    <a:pt x="0" y="2057400"/>
                  </a:cubicBezTo>
                  <a:close/>
                </a:path>
              </a:pathLst>
            </a:custGeom>
            <a:solidFill>
              <a:srgbClr val="2B1F6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0200" y="2887932"/>
            <a:ext cx="1047750" cy="1047750"/>
            <a:chOff x="0" y="0"/>
            <a:chExt cx="1397000" cy="139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cubicBezTo>
                    <a:pt x="1084326" y="0"/>
                    <a:pt x="1397000" y="312674"/>
                    <a:pt x="1397000" y="698500"/>
                  </a:cubicBezTo>
                  <a:cubicBezTo>
                    <a:pt x="1397000" y="1084326"/>
                    <a:pt x="1084326" y="1397000"/>
                    <a:pt x="698500" y="1397000"/>
                  </a:cubicBezTo>
                  <a:cubicBezTo>
                    <a:pt x="312674" y="1397000"/>
                    <a:pt x="0" y="1084326"/>
                    <a:pt x="0" y="698500"/>
                  </a:cubicBezTo>
                  <a:close/>
                </a:path>
              </a:pathLst>
            </a:custGeom>
            <a:solidFill>
              <a:srgbClr val="4BE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57375" y="3145107"/>
            <a:ext cx="533400" cy="533400"/>
            <a:chOff x="0" y="0"/>
            <a:chExt cx="711200" cy="711200"/>
          </a:xfrm>
        </p:grpSpPr>
        <p:sp>
          <p:nvSpPr>
            <p:cNvPr name="Freeform 8" id="8" descr="CheckCircle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952750" y="2975591"/>
            <a:ext cx="5827586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Uydurma yoxdur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52750" y="3425133"/>
            <a:ext cx="5827586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Hər sübut hesabatda yoxlanılır.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96400" y="2506932"/>
            <a:ext cx="7772400" cy="1809750"/>
            <a:chOff x="0" y="0"/>
            <a:chExt cx="103632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632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03632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10007600" y="0"/>
                  </a:lnTo>
                  <a:cubicBezTo>
                    <a:pt x="10203942" y="0"/>
                    <a:pt x="10363200" y="159258"/>
                    <a:pt x="10363200" y="355600"/>
                  </a:cubicBezTo>
                  <a:lnTo>
                    <a:pt x="10363200" y="2057400"/>
                  </a:lnTo>
                  <a:cubicBezTo>
                    <a:pt x="10363200" y="2253742"/>
                    <a:pt x="10203942" y="2413000"/>
                    <a:pt x="10007600" y="2413000"/>
                  </a:cubicBezTo>
                  <a:lnTo>
                    <a:pt x="355600" y="2413000"/>
                  </a:lnTo>
                  <a:cubicBezTo>
                    <a:pt x="159258" y="2413000"/>
                    <a:pt x="0" y="2253742"/>
                    <a:pt x="0" y="2057400"/>
                  </a:cubicBezTo>
                  <a:close/>
                </a:path>
              </a:pathLst>
            </a:custGeom>
            <a:solidFill>
              <a:srgbClr val="2B1F6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77400" y="2887932"/>
            <a:ext cx="1047750" cy="1047750"/>
            <a:chOff x="0" y="0"/>
            <a:chExt cx="13970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cubicBezTo>
                    <a:pt x="1084326" y="0"/>
                    <a:pt x="1397000" y="312674"/>
                    <a:pt x="1397000" y="698500"/>
                  </a:cubicBezTo>
                  <a:cubicBezTo>
                    <a:pt x="1397000" y="1084326"/>
                    <a:pt x="1084326" y="1397000"/>
                    <a:pt x="698500" y="1397000"/>
                  </a:cubicBezTo>
                  <a:cubicBezTo>
                    <a:pt x="312674" y="1397000"/>
                    <a:pt x="0" y="1084326"/>
                    <a:pt x="0" y="698500"/>
                  </a:cubicBezTo>
                  <a:close/>
                </a:path>
              </a:pathLst>
            </a:custGeom>
            <a:solidFill>
              <a:srgbClr val="FFC9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934575" y="3145107"/>
            <a:ext cx="533400" cy="533400"/>
            <a:chOff x="0" y="0"/>
            <a:chExt cx="711200" cy="711200"/>
          </a:xfrm>
        </p:grpSpPr>
        <p:sp>
          <p:nvSpPr>
            <p:cNvPr name="Freeform 16" id="16" descr="Clock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029950" y="2975591"/>
            <a:ext cx="5827586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Faktları kod yoxlayır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29950" y="3425133"/>
            <a:ext cx="5827586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Vaxtı model yox, Python müqayisə edir.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9200" y="4621482"/>
            <a:ext cx="7772400" cy="1809750"/>
            <a:chOff x="0" y="0"/>
            <a:chExt cx="10363200" cy="241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632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03632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10007600" y="0"/>
                  </a:lnTo>
                  <a:cubicBezTo>
                    <a:pt x="10203942" y="0"/>
                    <a:pt x="10363200" y="159258"/>
                    <a:pt x="10363200" y="355600"/>
                  </a:cubicBezTo>
                  <a:lnTo>
                    <a:pt x="10363200" y="2057400"/>
                  </a:lnTo>
                  <a:cubicBezTo>
                    <a:pt x="10363200" y="2253742"/>
                    <a:pt x="10203942" y="2413000"/>
                    <a:pt x="10007600" y="2413000"/>
                  </a:cubicBezTo>
                  <a:lnTo>
                    <a:pt x="355600" y="2413000"/>
                  </a:lnTo>
                  <a:cubicBezTo>
                    <a:pt x="159258" y="2413000"/>
                    <a:pt x="0" y="2253742"/>
                    <a:pt x="0" y="2057400"/>
                  </a:cubicBezTo>
                  <a:close/>
                </a:path>
              </a:pathLst>
            </a:custGeom>
            <a:solidFill>
              <a:srgbClr val="2B1F6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00200" y="5002482"/>
            <a:ext cx="1047750" cy="1047750"/>
            <a:chOff x="0" y="0"/>
            <a:chExt cx="13970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cubicBezTo>
                    <a:pt x="1084326" y="0"/>
                    <a:pt x="1397000" y="312674"/>
                    <a:pt x="1397000" y="698500"/>
                  </a:cubicBezTo>
                  <a:cubicBezTo>
                    <a:pt x="1397000" y="1084326"/>
                    <a:pt x="1084326" y="1397000"/>
                    <a:pt x="698500" y="1397000"/>
                  </a:cubicBezTo>
                  <a:cubicBezTo>
                    <a:pt x="312674" y="1397000"/>
                    <a:pt x="0" y="1084326"/>
                    <a:pt x="0" y="698500"/>
                  </a:cubicBezTo>
                  <a:close/>
                </a:path>
              </a:pathLst>
            </a:custGeom>
            <a:solidFill>
              <a:srgbClr val="FF6B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57375" y="5259657"/>
            <a:ext cx="533400" cy="533400"/>
            <a:chOff x="0" y="0"/>
            <a:chExt cx="711200" cy="711200"/>
          </a:xfrm>
        </p:grpSpPr>
        <p:sp>
          <p:nvSpPr>
            <p:cNvPr name="Freeform 24" id="24" descr="Lock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952750" y="5090141"/>
            <a:ext cx="5827586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Məxfilik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52750" y="5539683"/>
            <a:ext cx="5827586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Əlaqə məlumatı modelə də, API-yə də çatmır.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96400" y="4621482"/>
            <a:ext cx="7772400" cy="1809750"/>
            <a:chOff x="0" y="0"/>
            <a:chExt cx="10363200" cy="2413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632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03632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10007600" y="0"/>
                  </a:lnTo>
                  <a:cubicBezTo>
                    <a:pt x="10203942" y="0"/>
                    <a:pt x="10363200" y="159258"/>
                    <a:pt x="10363200" y="355600"/>
                  </a:cubicBezTo>
                  <a:lnTo>
                    <a:pt x="10363200" y="2057400"/>
                  </a:lnTo>
                  <a:cubicBezTo>
                    <a:pt x="10363200" y="2253742"/>
                    <a:pt x="10203942" y="2413000"/>
                    <a:pt x="10007600" y="2413000"/>
                  </a:cubicBezTo>
                  <a:lnTo>
                    <a:pt x="355600" y="2413000"/>
                  </a:lnTo>
                  <a:cubicBezTo>
                    <a:pt x="159258" y="2413000"/>
                    <a:pt x="0" y="2253742"/>
                    <a:pt x="0" y="2057400"/>
                  </a:cubicBezTo>
                  <a:close/>
                </a:path>
              </a:pathLst>
            </a:custGeom>
            <a:solidFill>
              <a:srgbClr val="2B1F6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77400" y="5002482"/>
            <a:ext cx="1047750" cy="1047750"/>
            <a:chOff x="0" y="0"/>
            <a:chExt cx="1397000" cy="139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cubicBezTo>
                    <a:pt x="1084326" y="0"/>
                    <a:pt x="1397000" y="312674"/>
                    <a:pt x="1397000" y="698500"/>
                  </a:cubicBezTo>
                  <a:cubicBezTo>
                    <a:pt x="1397000" y="1084326"/>
                    <a:pt x="1084326" y="1397000"/>
                    <a:pt x="698500" y="1397000"/>
                  </a:cubicBezTo>
                  <a:cubicBezTo>
                    <a:pt x="312674" y="1397000"/>
                    <a:pt x="0" y="1084326"/>
                    <a:pt x="0" y="698500"/>
                  </a:cubicBezTo>
                  <a:close/>
                </a:path>
              </a:pathLst>
            </a:custGeom>
            <a:solidFill>
              <a:srgbClr val="B9A7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934575" y="5259657"/>
            <a:ext cx="533400" cy="533400"/>
            <a:chOff x="0" y="0"/>
            <a:chExt cx="711200" cy="711200"/>
          </a:xfrm>
        </p:grpSpPr>
        <p:sp>
          <p:nvSpPr>
            <p:cNvPr name="Freeform 32" id="32" descr="Lightning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029950" y="5090141"/>
            <a:ext cx="5827586" cy="4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Heç vaxt çökmür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29950" y="5539683"/>
            <a:ext cx="5827586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AI işləməsə belə, sistem cavab verir.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lang="en-US" sz="1800">
                <a:solidFill>
                  <a:srgbClr val="FF8A70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 · 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38250"/>
            <a:ext cx="16325088" cy="77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Üç hissə, </a:t>
            </a:r>
            <a:r>
              <a:rPr lang="en-US" sz="5400" b="true">
                <a:solidFill>
                  <a:srgbClr val="C2391C"/>
                </a:solidFill>
                <a:latin typeface="Arial Bold"/>
                <a:ea typeface="Arial Bold"/>
                <a:cs typeface="Arial Bold"/>
                <a:sym typeface="Arial Bold"/>
              </a:rPr>
              <a:t>bir müqavilə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583132"/>
            <a:ext cx="3390900" cy="2335482"/>
            <a:chOff x="0" y="0"/>
            <a:chExt cx="4521200" cy="31139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21200" cy="3114040"/>
            </a:xfrm>
            <a:custGeom>
              <a:avLst/>
              <a:gdLst/>
              <a:ahLst/>
              <a:cxnLst/>
              <a:rect r="r" b="b" t="t" l="l"/>
              <a:pathLst>
                <a:path h="3114040" w="4521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216400" y="0"/>
                  </a:lnTo>
                  <a:cubicBezTo>
                    <a:pt x="4384675" y="0"/>
                    <a:pt x="4521200" y="136525"/>
                    <a:pt x="4521200" y="304800"/>
                  </a:cubicBezTo>
                  <a:lnTo>
                    <a:pt x="4521200" y="2809240"/>
                  </a:lnTo>
                  <a:cubicBezTo>
                    <a:pt x="4521200" y="2977515"/>
                    <a:pt x="4384675" y="3114040"/>
                    <a:pt x="4216400" y="3114040"/>
                  </a:cubicBezTo>
                  <a:lnTo>
                    <a:pt x="304800" y="3114040"/>
                  </a:lnTo>
                  <a:cubicBezTo>
                    <a:pt x="136525" y="3114040"/>
                    <a:pt x="0" y="2977515"/>
                    <a:pt x="0" y="28092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609850" y="2926032"/>
            <a:ext cx="609600" cy="609600"/>
            <a:chOff x="0" y="0"/>
            <a:chExt cx="812800" cy="812800"/>
          </a:xfrm>
        </p:grpSpPr>
        <p:sp>
          <p:nvSpPr>
            <p:cNvPr name="Freeform 6" id="6" descr="Globe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68017" y="3678507"/>
            <a:ext cx="1893275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3749" y="4171874"/>
            <a:ext cx="1621717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React + Vite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62500" y="3636540"/>
            <a:ext cx="457200" cy="228600"/>
            <a:chOff x="0" y="0"/>
            <a:chExt cx="609600" cy="304800"/>
          </a:xfrm>
        </p:grpSpPr>
        <p:sp>
          <p:nvSpPr>
            <p:cNvPr name="Freeform 10" id="10" descr="arrow-right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72100" y="2583132"/>
            <a:ext cx="3390900" cy="2335482"/>
            <a:chOff x="0" y="0"/>
            <a:chExt cx="4521200" cy="31139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21200" cy="3114040"/>
            </a:xfrm>
            <a:custGeom>
              <a:avLst/>
              <a:gdLst/>
              <a:ahLst/>
              <a:cxnLst/>
              <a:rect r="r" b="b" t="t" l="l"/>
              <a:pathLst>
                <a:path h="3114040" w="4521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216400" y="0"/>
                  </a:lnTo>
                  <a:cubicBezTo>
                    <a:pt x="4384675" y="0"/>
                    <a:pt x="4521200" y="136525"/>
                    <a:pt x="4521200" y="304800"/>
                  </a:cubicBezTo>
                  <a:lnTo>
                    <a:pt x="4521200" y="2809240"/>
                  </a:lnTo>
                  <a:cubicBezTo>
                    <a:pt x="4521200" y="2977515"/>
                    <a:pt x="4384675" y="3114040"/>
                    <a:pt x="4216400" y="3114040"/>
                  </a:cubicBezTo>
                  <a:lnTo>
                    <a:pt x="304800" y="3114040"/>
                  </a:lnTo>
                  <a:cubicBezTo>
                    <a:pt x="136525" y="3114040"/>
                    <a:pt x="0" y="2977515"/>
                    <a:pt x="0" y="28092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762750" y="2926032"/>
            <a:ext cx="609600" cy="609600"/>
            <a:chOff x="0" y="0"/>
            <a:chExt cx="812800" cy="812800"/>
          </a:xfrm>
        </p:grpSpPr>
        <p:sp>
          <p:nvSpPr>
            <p:cNvPr name="Freeform 14" id="14" descr="Database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148692" y="3678507"/>
            <a:ext cx="1837639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15444" y="4171874"/>
            <a:ext cx="2304212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FastAPI + SQLite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915400" y="3636540"/>
            <a:ext cx="457200" cy="228600"/>
            <a:chOff x="0" y="0"/>
            <a:chExt cx="609600" cy="304800"/>
          </a:xfrm>
        </p:grpSpPr>
        <p:sp>
          <p:nvSpPr>
            <p:cNvPr name="Freeform 18" id="18" descr="arrow-right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25000" y="2583132"/>
            <a:ext cx="3390900" cy="2335482"/>
            <a:chOff x="0" y="0"/>
            <a:chExt cx="4521200" cy="31139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21200" cy="3114040"/>
            </a:xfrm>
            <a:custGeom>
              <a:avLst/>
              <a:gdLst/>
              <a:ahLst/>
              <a:cxnLst/>
              <a:rect r="r" b="b" t="t" l="l"/>
              <a:pathLst>
                <a:path h="3114040" w="4521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216400" y="0"/>
                  </a:lnTo>
                  <a:cubicBezTo>
                    <a:pt x="4384675" y="0"/>
                    <a:pt x="4521200" y="136525"/>
                    <a:pt x="4521200" y="304800"/>
                  </a:cubicBezTo>
                  <a:lnTo>
                    <a:pt x="4521200" y="2809240"/>
                  </a:lnTo>
                  <a:cubicBezTo>
                    <a:pt x="4521200" y="2977515"/>
                    <a:pt x="4384675" y="3114040"/>
                    <a:pt x="4216400" y="3114040"/>
                  </a:cubicBezTo>
                  <a:lnTo>
                    <a:pt x="304800" y="3114040"/>
                  </a:lnTo>
                  <a:cubicBezTo>
                    <a:pt x="136525" y="3114040"/>
                    <a:pt x="0" y="2977515"/>
                    <a:pt x="0" y="2809240"/>
                  </a:cubicBezTo>
                  <a:close/>
                </a:path>
              </a:pathLst>
            </a:custGeom>
            <a:solidFill>
              <a:srgbClr val="1E144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15650" y="2926032"/>
            <a:ext cx="609600" cy="609600"/>
            <a:chOff x="0" y="0"/>
            <a:chExt cx="812800" cy="812800"/>
          </a:xfrm>
        </p:grpSpPr>
        <p:sp>
          <p:nvSpPr>
            <p:cNvPr name="Freeform 22" id="22" descr="Lightbulb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321061" y="3678507"/>
            <a:ext cx="1798711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AI agent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57811" y="4171874"/>
            <a:ext cx="925201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068300" y="3636540"/>
            <a:ext cx="457200" cy="228600"/>
            <a:chOff x="0" y="0"/>
            <a:chExt cx="609600" cy="304800"/>
          </a:xfrm>
        </p:grpSpPr>
        <p:sp>
          <p:nvSpPr>
            <p:cNvPr name="Freeform 26" id="26" descr="arrow-right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677900" y="2583132"/>
            <a:ext cx="3390900" cy="2335482"/>
            <a:chOff x="0" y="0"/>
            <a:chExt cx="4521200" cy="31139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21200" cy="3114040"/>
            </a:xfrm>
            <a:custGeom>
              <a:avLst/>
              <a:gdLst/>
              <a:ahLst/>
              <a:cxnLst/>
              <a:rect r="r" b="b" t="t" l="l"/>
              <a:pathLst>
                <a:path h="3114040" w="4521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216400" y="0"/>
                  </a:lnTo>
                  <a:cubicBezTo>
                    <a:pt x="4384675" y="0"/>
                    <a:pt x="4521200" y="136525"/>
                    <a:pt x="4521200" y="304800"/>
                  </a:cubicBezTo>
                  <a:lnTo>
                    <a:pt x="4521200" y="2809240"/>
                  </a:lnTo>
                  <a:cubicBezTo>
                    <a:pt x="4521200" y="2977515"/>
                    <a:pt x="4384675" y="3114040"/>
                    <a:pt x="4216400" y="3114040"/>
                  </a:cubicBezTo>
                  <a:lnTo>
                    <a:pt x="304800" y="3114040"/>
                  </a:lnTo>
                  <a:cubicBezTo>
                    <a:pt x="136525" y="3114040"/>
                    <a:pt x="0" y="2977515"/>
                    <a:pt x="0" y="2809240"/>
                  </a:cubicBezTo>
                  <a:close/>
                </a:path>
              </a:pathLst>
            </a:custGeom>
            <a:solidFill>
              <a:srgbClr val="FF6B4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068550" y="2926032"/>
            <a:ext cx="609600" cy="609600"/>
            <a:chOff x="0" y="0"/>
            <a:chExt cx="812800" cy="812800"/>
          </a:xfrm>
        </p:grpSpPr>
        <p:sp>
          <p:nvSpPr>
            <p:cNvPr name="Freeform 30" id="30" descr="Cloud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476628" y="3678507"/>
            <a:ext cx="1793443" cy="43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Modellər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01677" y="4171874"/>
            <a:ext cx="2543356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E1446"/>
                </a:solidFill>
                <a:latin typeface="Arial"/>
                <a:ea typeface="Arial"/>
                <a:cs typeface="Arial"/>
                <a:sym typeface="Arial"/>
              </a:rPr>
              <a:t>Gemma 4 · gpt-oss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lang="en-US" sz="1800">
                <a:solidFill>
                  <a:srgbClr val="C2391C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 · 11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2506932"/>
            <a:ext cx="7696200" cy="3398491"/>
            <a:chOff x="0" y="0"/>
            <a:chExt cx="10261600" cy="4531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1600" cy="4531360"/>
            </a:xfrm>
            <a:custGeom>
              <a:avLst/>
              <a:gdLst/>
              <a:ahLst/>
              <a:cxnLst/>
              <a:rect r="r" b="b" t="t" l="l"/>
              <a:pathLst>
                <a:path h="4531360" w="102616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9906000" y="0"/>
                  </a:lnTo>
                  <a:cubicBezTo>
                    <a:pt x="10102342" y="0"/>
                    <a:pt x="10261600" y="159258"/>
                    <a:pt x="10261600" y="355600"/>
                  </a:cubicBezTo>
                  <a:lnTo>
                    <a:pt x="10261600" y="4175760"/>
                  </a:lnTo>
                  <a:cubicBezTo>
                    <a:pt x="10261600" y="4372102"/>
                    <a:pt x="10102342" y="4531360"/>
                    <a:pt x="9906000" y="4531360"/>
                  </a:cubicBezTo>
                  <a:lnTo>
                    <a:pt x="355600" y="4531360"/>
                  </a:lnTo>
                  <a:cubicBezTo>
                    <a:pt x="159258" y="4531360"/>
                    <a:pt x="0" y="4372102"/>
                    <a:pt x="0" y="417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9200" y="2506932"/>
            <a:ext cx="7696200" cy="3398491"/>
            <a:chOff x="0" y="0"/>
            <a:chExt cx="10261600" cy="4531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61600" cy="355600"/>
            </a:xfrm>
            <a:custGeom>
              <a:avLst/>
              <a:gdLst/>
              <a:ahLst/>
              <a:cxnLst/>
              <a:rect r="r" b="b" t="t" l="l"/>
              <a:pathLst>
                <a:path h="355600" w="102616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9906000" y="0"/>
                  </a:lnTo>
                  <a:cubicBezTo>
                    <a:pt x="10102342" y="0"/>
                    <a:pt x="10261600" y="159258"/>
                    <a:pt x="10261600" y="355600"/>
                  </a:cubicBezTo>
                  <a:cubicBezTo>
                    <a:pt x="10261600" y="243332"/>
                    <a:pt x="10170668" y="152400"/>
                    <a:pt x="10058400" y="152400"/>
                  </a:cubicBezTo>
                  <a:lnTo>
                    <a:pt x="355600" y="152400"/>
                  </a:lnTo>
                  <a:cubicBezTo>
                    <a:pt x="243332" y="152400"/>
                    <a:pt x="152400" y="243332"/>
                    <a:pt x="152400" y="355600"/>
                  </a:cubicBezTo>
                  <a:close/>
                </a:path>
              </a:pathLst>
            </a:custGeom>
            <a:solidFill>
              <a:srgbClr val="FF6B4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38300" y="3063183"/>
            <a:ext cx="457200" cy="457200"/>
            <a:chOff x="0" y="0"/>
            <a:chExt cx="609600" cy="609600"/>
          </a:xfrm>
        </p:grpSpPr>
        <p:sp>
          <p:nvSpPr>
            <p:cNvPr name="Freeform 7" id="7" descr="Warni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47900" y="3011757"/>
            <a:ext cx="1820142" cy="5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E1446"/>
                </a:solidFill>
                <a:latin typeface="Arial Bold"/>
                <a:ea typeface="Arial Bold"/>
                <a:cs typeface="Arial Bold"/>
                <a:sym typeface="Arial Bold"/>
              </a:rPr>
              <a:t>Hələlik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4030" y="3695624"/>
            <a:ext cx="692658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Təklif — sahibliyin sübutu deyil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Bal yalnız sıralama üçündür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Kiçik test dəsti, yalnız ingiliscə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Pulsuz hostinq: dəqiqədə 2–4 axtarış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72600" y="2506932"/>
            <a:ext cx="7696200" cy="3398491"/>
            <a:chOff x="0" y="0"/>
            <a:chExt cx="10261600" cy="45313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61600" cy="4531360"/>
            </a:xfrm>
            <a:custGeom>
              <a:avLst/>
              <a:gdLst/>
              <a:ahLst/>
              <a:cxnLst/>
              <a:rect r="r" b="b" t="t" l="l"/>
              <a:pathLst>
                <a:path h="4531360" w="102616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9906000" y="0"/>
                  </a:lnTo>
                  <a:cubicBezTo>
                    <a:pt x="10102342" y="0"/>
                    <a:pt x="10261600" y="159258"/>
                    <a:pt x="10261600" y="355600"/>
                  </a:cubicBezTo>
                  <a:lnTo>
                    <a:pt x="10261600" y="4175760"/>
                  </a:lnTo>
                  <a:cubicBezTo>
                    <a:pt x="10261600" y="4372102"/>
                    <a:pt x="10102342" y="4531360"/>
                    <a:pt x="9906000" y="4531360"/>
                  </a:cubicBezTo>
                  <a:lnTo>
                    <a:pt x="355600" y="4531360"/>
                  </a:lnTo>
                  <a:cubicBezTo>
                    <a:pt x="159258" y="4531360"/>
                    <a:pt x="0" y="4372102"/>
                    <a:pt x="0" y="4175760"/>
                  </a:cubicBezTo>
                  <a:close/>
                </a:path>
              </a:pathLst>
            </a:custGeom>
            <a:solidFill>
              <a:srgbClr val="1E144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72600" y="2506932"/>
            <a:ext cx="7696200" cy="3398491"/>
            <a:chOff x="0" y="0"/>
            <a:chExt cx="10261600" cy="4531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61600" cy="355600"/>
            </a:xfrm>
            <a:custGeom>
              <a:avLst/>
              <a:gdLst/>
              <a:ahLst/>
              <a:cxnLst/>
              <a:rect r="r" b="b" t="t" l="l"/>
              <a:pathLst>
                <a:path h="355600" w="102616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9906000" y="0"/>
                  </a:lnTo>
                  <a:cubicBezTo>
                    <a:pt x="10102342" y="0"/>
                    <a:pt x="10261600" y="159258"/>
                    <a:pt x="10261600" y="355600"/>
                  </a:cubicBezTo>
                  <a:cubicBezTo>
                    <a:pt x="10261600" y="243332"/>
                    <a:pt x="10170668" y="152400"/>
                    <a:pt x="10058400" y="152400"/>
                  </a:cubicBezTo>
                  <a:lnTo>
                    <a:pt x="355600" y="152400"/>
                  </a:lnTo>
                  <a:cubicBezTo>
                    <a:pt x="243332" y="152400"/>
                    <a:pt x="152400" y="243332"/>
                    <a:pt x="152400" y="355600"/>
                  </a:cubicBezTo>
                  <a:close/>
                </a:path>
              </a:pathLst>
            </a:custGeom>
            <a:solidFill>
              <a:srgbClr val="4BE0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791700" y="3063183"/>
            <a:ext cx="457200" cy="457200"/>
            <a:chOff x="0" y="0"/>
            <a:chExt cx="609600" cy="609600"/>
          </a:xfrm>
        </p:grpSpPr>
        <p:sp>
          <p:nvSpPr>
            <p:cNvPr name="Freeform 15" id="15" descr="Star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401300" y="3011757"/>
            <a:ext cx="3901554" cy="5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Növbəti addım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17430" y="3695624"/>
            <a:ext cx="692658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Şəkillə uyğunlaşdırma (Gemma 4)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İstifadəçi hesabları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Azərbaycan dili dəstəyi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Modelləri öz serverimizdə işlətmək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lang="en-US" sz="1800">
                <a:solidFill>
                  <a:srgbClr val="C2391C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800">
                <a:solidFill>
                  <a:srgbClr val="4E4870"/>
                </a:solidFill>
                <a:latin typeface="Arial"/>
                <a:ea typeface="Arial"/>
                <a:cs typeface="Arial"/>
                <a:sym typeface="Arial"/>
              </a:rPr>
              <a:t> · 13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00" y="1524000"/>
            <a:ext cx="266700" cy="266700"/>
            <a:chOff x="0" y="0"/>
            <a:chExt cx="355600" cy="355600"/>
          </a:xfrm>
        </p:grpSpPr>
        <p:sp>
          <p:nvSpPr>
            <p:cNvPr name="Freeform 3" id="3" descr="ellipse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39500" y="1143000"/>
            <a:ext cx="171450" cy="171450"/>
            <a:chOff x="0" y="0"/>
            <a:chExt cx="228600" cy="228600"/>
          </a:xfrm>
        </p:grpSpPr>
        <p:sp>
          <p:nvSpPr>
            <p:cNvPr name="Freeform 5" id="5" descr="ellipse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2847975"/>
            <a:ext cx="2095500" cy="2095500"/>
            <a:chOff x="0" y="0"/>
            <a:chExt cx="2794000" cy="2794000"/>
          </a:xfrm>
        </p:grpSpPr>
        <p:sp>
          <p:nvSpPr>
            <p:cNvPr name="Freeform 7" id="7" descr="FoundIt loqosu"/>
            <p:cNvSpPr/>
            <p:nvPr/>
          </p:nvSpPr>
          <p:spPr>
            <a:xfrm flipH="false" flipV="false" rot="0">
              <a:off x="0" y="0"/>
              <a:ext cx="2794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848100" y="3048000"/>
            <a:ext cx="91821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b="true" sz="10500" spc="-299">
                <a:solidFill>
                  <a:srgbClr val="FFF6EC"/>
                </a:solidFill>
                <a:latin typeface="Arial Bold"/>
                <a:ea typeface="Arial Bold"/>
                <a:cs typeface="Arial Bold"/>
                <a:sym typeface="Arial Bold"/>
              </a:rPr>
              <a:t>Təşəkkürlər!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14700" y="5642175"/>
            <a:ext cx="106975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Model təklif edir · Python qərar verir · </a:t>
            </a:r>
            <a:r>
              <a:rPr lang="en-US" sz="3000" b="true">
                <a:solidFill>
                  <a:srgbClr val="4BE0C0"/>
                </a:solidFill>
                <a:latin typeface="Arial Bold"/>
                <a:ea typeface="Arial Bold"/>
                <a:cs typeface="Arial Bold"/>
                <a:sym typeface="Arial Bold"/>
              </a:rPr>
              <a:t>insan yoxlayır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200" y="9300267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D9D2F5"/>
                </a:solidFill>
                <a:latin typeface="Arial"/>
                <a:ea typeface="Arial"/>
                <a:cs typeface="Arial"/>
                <a:sym typeface="Arial"/>
              </a:rPr>
              <a:t>github.com/Ducktoberfest/team-nipodihos · Team Nipodihos · Ducktoberfest Baku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DAHXspRJAeg</dc:identifier>
  <dcterms:modified xsi:type="dcterms:W3CDTF">2011-08-01T06:04:30Z</dcterms:modified>
  <cp:revision>1</cp:revision>
  <dc:title>«Kitabxanada stulun üstündə tünd mavi məktəb çantası qalıb. Üstündə açar halqası var.»</dc:title>
</cp:coreProperties>
</file>